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3213B"/>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3213B"/>
          </a:solidFill>
          <a:ln/>
        </p:spPr>
      </p:sp>
      <p:sp>
        <p:nvSpPr>
          <p:cNvPr id="3" name="Text 1"/>
          <p:cNvSpPr/>
          <p:nvPr>
            <p:ph idx="103" type="title" hasCustomPrompt="1"/>
          </p:nvPr>
        </p:nvSpPr>
        <p:spPr>
          <a:xfrm>
            <a:off x="822960" y="2331720"/>
            <a:ext cx="9875520" cy="1737360"/>
          </a:xfrm>
          <a:prstGeom prst="rect">
            <a:avLst/>
          </a:prstGeom>
          <a:noFill/>
          <a:ln/>
        </p:spPr>
        <p:txBody>
          <a:bodyPr wrap="square" rtlCol="0"/>
          <a:lstStyle>
            <a:lvl1pPr algn="l" indent="0" marL="0">
              <a:buNone/>
              <a:defRPr lang="en-US" sz="4200" b="1" dirty="0">
                <a:solidFill>
                  <a:srgbClr val="FFFFFF"/>
                </a:solidFill>
                <a:latin typeface="Calibri" pitchFamily="34" charset="0"/>
                <a:ea typeface="Calibri" pitchFamily="34" charset="-122"/>
                <a:cs typeface="Calibri" pitchFamily="34" charset="-120"/>
              </a:defRPr>
            </a:lvl1pPr>
          </a:lstStyle>
          <a:p>
            <a:pPr algn="l" indent="0" marL="0">
              <a:buNone/>
            </a:pPr>
            <a:r>
              <a:rPr lang="en-US" sz="4200" b="1" dirty="0">
                <a:solidFill>
                  <a:srgbClr val="FFFFFF"/>
                </a:solidFill>
                <a:latin typeface="Calibri" pitchFamily="34" charset="0"/>
                <a:ea typeface="Calibri" pitchFamily="34" charset="-122"/>
                <a:cs typeface="Calibri" pitchFamily="34" charset="-120"/>
              </a:rPr>
              <a:t>(titel)</a:t>
            </a:r>
            <a:endParaRPr lang="en-US" sz="4200" dirty="0"/>
          </a:p>
        </p:txBody>
      </p:sp>
      <p:sp>
        <p:nvSpPr>
          <p:cNvPr id="4" name="Text 1"/>
          <p:cNvSpPr/>
          <p:nvPr>
            <p:ph idx="104" type="body" hasCustomPrompt="1"/>
          </p:nvPr>
        </p:nvSpPr>
        <p:spPr>
          <a:xfrm>
            <a:off x="822960" y="3977640"/>
            <a:ext cx="9326880" cy="1188720"/>
          </a:xfrm>
          <a:prstGeom prst="rect">
            <a:avLst/>
          </a:prstGeom>
          <a:noFill/>
          <a:ln/>
        </p:spPr>
        <p:txBody>
          <a:bodyPr wrap="square" rtlCol="0"/>
          <a:lstStyle>
            <a:lvl1pPr algn="l" indent="0" marL="0">
              <a:buNone/>
              <a:defRPr lang="en-US" sz="1800" dirty="0">
                <a:solidFill>
                  <a:srgbClr val="C2F7FF"/>
                </a:solidFill>
                <a:latin typeface="Calibri" pitchFamily="34" charset="0"/>
                <a:ea typeface="Calibri" pitchFamily="34" charset="-122"/>
                <a:cs typeface="Calibri" pitchFamily="34" charset="-120"/>
              </a:defRPr>
            </a:lvl1pPr>
          </a:lstStyle>
          <a:p>
            <a:pPr algn="l" indent="0" marL="0">
              <a:buNone/>
            </a:pPr>
            <a:r>
              <a:rPr lang="en-US" sz="1800" dirty="0">
                <a:solidFill>
                  <a:srgbClr val="C2F7FF"/>
                </a:solidFill>
                <a:latin typeface="Calibri" pitchFamily="34" charset="0"/>
                <a:ea typeface="Calibri" pitchFamily="34" charset="-122"/>
                <a:cs typeface="Calibri" pitchFamily="34" charset="-120"/>
              </a:rPr>
              <a:t>(subtitel)</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321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914400"/>
          </a:xfrm>
          <a:prstGeom prst="rect">
            <a:avLst/>
          </a:prstGeom>
          <a:noFill/>
          <a:ln/>
        </p:spPr>
        <p:txBody>
          <a:bodyPr wrap="square" rtlCol="0"/>
          <a:lstStyle>
            <a:lvl1pPr algn="l" indent="0" marL="0">
              <a:buNone/>
              <a:defRPr lang="en-US" sz="3000" b="1" dirty="0">
                <a:solidFill>
                  <a:srgbClr val="FFFFFF"/>
                </a:solidFill>
                <a:latin typeface="Calibri" pitchFamily="34" charset="0"/>
                <a:ea typeface="Calibri" pitchFamily="34" charset="-122"/>
                <a:cs typeface="Calibri" pitchFamily="34" charset="-120"/>
              </a:defRPr>
            </a:lvl1pPr>
          </a:lstStyle>
          <a:p>
            <a:pPr algn="l" indent="0" marL="0">
              <a:buNone/>
            </a:pPr>
            <a:r>
              <a:rPr lang="en-US" sz="3000" b="1" dirty="0">
                <a:solidFill>
                  <a:srgbClr val="FFFFFF"/>
                </a:solidFill>
                <a:latin typeface="Calibri" pitchFamily="34" charset="0"/>
                <a:ea typeface="Calibri" pitchFamily="34" charset="-122"/>
                <a:cs typeface="Calibri" pitchFamily="34" charset="-120"/>
              </a:rPr>
              <a:t>(titel)</a:t>
            </a:r>
            <a:endParaRPr lang="en-US" sz="3000" dirty="0"/>
          </a:p>
        </p:txBody>
      </p:sp>
      <p:sp>
        <p:nvSpPr>
          <p:cNvPr id="3" name="Text 0"/>
          <p:cNvSpPr/>
          <p:nvPr>
            <p:ph idx="101" type="body" hasCustomPrompt="1"/>
          </p:nvPr>
        </p:nvSpPr>
        <p:spPr>
          <a:xfrm>
            <a:off x="731520" y="1508760"/>
            <a:ext cx="10698480" cy="4480560"/>
          </a:xfrm>
          <a:prstGeom prst="rect">
            <a:avLst/>
          </a:prstGeom>
          <a:noFill/>
          <a:ln/>
        </p:spPr>
        <p:txBody>
          <a:bodyPr wrap="square" rtlCol="0"/>
          <a:lstStyle>
            <a:lvl1pPr algn="l" indent="0" marL="0">
              <a:buNone/>
              <a:defRPr lang="en-US" sz="1600" dirty="0">
                <a:solidFill>
                  <a:srgbClr val="FFFFFF"/>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lstStyle>
            <a:lvl1pPr algn="l" indent="0" marL="0">
              <a:buNone/>
              <a:defRPr lang="en-US" sz="2800" b="1" dirty="0">
                <a:solidFill>
                  <a:srgbClr val="093B5F"/>
                </a:solidFill>
                <a:latin typeface="Calibri" pitchFamily="34" charset="0"/>
                <a:ea typeface="Calibri" pitchFamily="34" charset="-122"/>
                <a:cs typeface="Calibri" pitchFamily="34" charset="-120"/>
              </a:defRPr>
            </a:lvl1pPr>
          </a:lstStyle>
          <a:p>
            <a:pPr algn="l" indent="0" marL="0">
              <a:buNone/>
            </a:pPr>
            <a:r>
              <a:rPr lang="en-US" sz="2800" b="1" dirty="0">
                <a:solidFill>
                  <a:srgbClr val="093B5F"/>
                </a:solidFill>
                <a:latin typeface="Calibri" pitchFamily="34" charset="0"/>
                <a:ea typeface="Calibri" pitchFamily="34" charset="-122"/>
                <a:cs typeface="Calibri" pitchFamily="34" charset="-120"/>
              </a:rPr>
              <a:t>(titel)</a:t>
            </a:r>
            <a:endParaRPr lang="en-US" sz="2800" dirty="0"/>
          </a:p>
        </p:txBody>
      </p:sp>
      <p:sp>
        <p:nvSpPr>
          <p:cNvPr id="3" name="Text 0"/>
          <p:cNvSpPr/>
          <p:nvPr>
            <p:ph idx="101" type="body" hasCustomPrompt="1"/>
          </p:nvPr>
        </p:nvSpPr>
        <p:spPr>
          <a:xfrm>
            <a:off x="548640" y="1234440"/>
            <a:ext cx="11064240" cy="5120640"/>
          </a:xfrm>
          <a:prstGeom prst="rect">
            <a:avLst/>
          </a:prstGeom>
          <a:noFill/>
          <a:ln/>
        </p:spPr>
        <p:txBody>
          <a:bodyPr wrap="square" rtlCol="0"/>
          <a:lstStyle>
            <a:lvl1pPr algn="l" indent="0" marL="0">
              <a:buNone/>
              <a:defRPr lang="en-US" sz="1400" dirty="0">
                <a:solidFill>
                  <a:srgbClr val="093B5F"/>
                </a:solidFill>
                <a:latin typeface="Calibri" pitchFamily="34" charset="0"/>
                <a:ea typeface="Calibri" pitchFamily="34" charset="-122"/>
                <a:cs typeface="Calibri" pitchFamily="34" charset="-120"/>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783080"/>
            <a:ext cx="5486400" cy="365760"/>
          </a:xfrm>
          <a:prstGeom prst="rect">
            <a:avLst/>
          </a:prstGeom>
          <a:noFill/>
          <a:ln/>
        </p:spPr>
        <p:txBody>
          <a:bodyPr wrap="square" lIns="0" tIns="0" rIns="0" bIns="0" rtlCol="0" anchor="ctr"/>
          <a:lstStyle/>
          <a:p>
            <a:pPr algn="l" indent="0" marL="0">
              <a:buNone/>
            </a:pPr>
            <a:r>
              <a:rPr lang="en-US" sz="1300" b="1" spc="200" kern="0" dirty="0">
                <a:solidFill>
                  <a:srgbClr val="00C895"/>
                </a:solidFill>
                <a:latin typeface="Calibri" pitchFamily="34" charset="0"/>
                <a:ea typeface="Calibri" pitchFamily="34" charset="-122"/>
                <a:cs typeface="Calibri" pitchFamily="34" charset="-120"/>
              </a:rPr>
              <a:t>DADD 2026</a:t>
            </a:r>
            <a:endParaRPr lang="en-US" sz="1300" dirty="0"/>
          </a:p>
        </p:txBody>
      </p:sp>
      <p:sp>
        <p:nvSpPr>
          <p:cNvPr id="3" name="Text 1"/>
          <p:cNvSpPr/>
          <p:nvPr>
            <p:ph idx="103" type="title" hasCustomPrompt="1"/>
          </p:nvPr>
        </p:nvSpPr>
        <p:spPr>
          <a:xfrm>
            <a:off x="822960" y="2331720"/>
            <a:ext cx="9875520" cy="1737360"/>
          </a:xfrm>
          <a:prstGeom prst="rect">
            <a:avLst/>
          </a:prstGeom>
          <a:noFill/>
          <a:ln/>
        </p:spPr>
        <p:txBody>
          <a:bodyPr wrap="square" rtlCol="0" anchor="t"/>
          <a:lstStyle/>
          <a:p>
            <a:pPr algn="l" indent="0" marL="0">
              <a:buNone/>
            </a:pPr>
            <a:r>
              <a:rPr lang="en-US" sz="4200" b="1" dirty="0">
                <a:solidFill>
                  <a:srgbClr val="FFFFFF"/>
                </a:solidFill>
                <a:latin typeface="Calibri" pitchFamily="34" charset="0"/>
                <a:ea typeface="Calibri" pitchFamily="34" charset="-122"/>
                <a:cs typeface="Calibri" pitchFamily="34" charset="-120"/>
              </a:rPr>
              <a:t>Ontwerpen voor soevereiniteit</a:t>
            </a:r>
            <a:endParaRPr lang="en-US" sz="4200" dirty="0"/>
          </a:p>
        </p:txBody>
      </p:sp>
      <p:sp>
        <p:nvSpPr>
          <p:cNvPr id="4" name="Text 1"/>
          <p:cNvSpPr/>
          <p:nvPr>
            <p:ph idx="104" type="body" hasCustomPrompt="1"/>
          </p:nvPr>
        </p:nvSpPr>
        <p:spPr>
          <a:xfrm>
            <a:off x="822960" y="3977640"/>
            <a:ext cx="9326880" cy="1188720"/>
          </a:xfrm>
          <a:prstGeom prst="rect">
            <a:avLst/>
          </a:prstGeom>
          <a:noFill/>
          <a:ln/>
        </p:spPr>
        <p:txBody>
          <a:bodyPr wrap="square" rtlCol="0" anchor="t"/>
          <a:lstStyle/>
          <a:p>
            <a:pPr algn="l" indent="0" marL="0">
              <a:buNone/>
            </a:pPr>
            <a:r>
              <a:rPr lang="en-US" sz="1800" dirty="0">
                <a:solidFill>
                  <a:srgbClr val="C2F7FF"/>
                </a:solidFill>
                <a:latin typeface="Calibri" pitchFamily="34" charset="0"/>
                <a:ea typeface="Calibri" pitchFamily="34" charset="-122"/>
                <a:cs typeface="Calibri" pitchFamily="34" charset="-120"/>
              </a:rPr>
              <a:t>De verborgen kosten van het verlaten van de hyperscalers — van scratch naar een draaiende, classificatie-gestuurde infrastructuur</a:t>
            </a:r>
            <a:endParaRPr lang="en-US" sz="1800" dirty="0"/>
          </a:p>
        </p:txBody>
      </p:sp>
      <p:sp>
        <p:nvSpPr>
          <p:cNvPr id="5" name="Text 3"/>
          <p:cNvSpPr txBox="1"/>
          <p:nvPr/>
        </p:nvSpPr>
        <p:spPr>
          <a:xfrm>
            <a:off x="822960" y="6035040"/>
            <a:ext cx="7315200" cy="3657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Emil Zegers  ·  Solace</a:t>
            </a:r>
            <a:endParaRPr lang="en-US" sz="1300" dirty="0"/>
          </a:p>
        </p:txBody>
      </p:sp>
      <p:sp>
        <p:nvSpPr>
          <p:cNvPr id="6" name="Text 4"/>
          <p:cNvSpPr txBox="1"/>
          <p:nvPr/>
        </p:nvSpPr>
        <p:spPr>
          <a:xfrm>
            <a:off x="822960" y="457200"/>
            <a:ext cx="1828800" cy="365760"/>
          </a:xfrm>
          <a:prstGeom prst="rect">
            <a:avLst/>
          </a:prstGeom>
          <a:noFill/>
          <a:ln/>
        </p:spPr>
        <p:txBody>
          <a:bodyPr wrap="square" lIns="0" tIns="0" rIns="0" bIns="0" rtlCol="0" anchor="ctr"/>
          <a:lstStyle/>
          <a:p>
            <a:pPr algn="l" indent="0" marL="0">
              <a:buNone/>
            </a:pPr>
            <a:r>
              <a:rPr lang="en-US" sz="2000" b="1" dirty="0">
                <a:solidFill>
                  <a:srgbClr val="00C895"/>
                </a:solidFill>
                <a:latin typeface="Calibri" pitchFamily="34" charset="0"/>
                <a:ea typeface="Calibri" pitchFamily="34" charset="-122"/>
                <a:cs typeface="Calibri" pitchFamily="34" charset="-120"/>
              </a:rPr>
              <a:t>solace.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914400"/>
          </a:xfrm>
          <a:prstGeom prst="rect">
            <a:avLst/>
          </a:prstGeom>
          <a:noFill/>
          <a:ln/>
        </p:spPr>
        <p:txBody>
          <a:bodyPr wrap="square"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Soevereiniteit is geen opslagvraagstuk</a:t>
            </a:r>
            <a:endParaRPr lang="en-US" sz="3000" dirty="0"/>
          </a:p>
        </p:txBody>
      </p:sp>
      <p:sp>
        <p:nvSpPr>
          <p:cNvPr id="3" name="Text 1"/>
          <p:cNvSpPr txBox="1"/>
          <p:nvPr/>
        </p:nvSpPr>
        <p:spPr>
          <a:xfrm>
            <a:off x="731520" y="1417320"/>
            <a:ext cx="10698480" cy="822960"/>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Het is een </a:t>
            </a:r>
            <a:pPr algn="l" indent="0" marL="0">
              <a:buNone/>
            </a:pPr>
            <a:r>
              <a:rPr lang="en-US" sz="1600" b="1" dirty="0">
                <a:solidFill>
                  <a:srgbClr val="00C895"/>
                </a:solidFill>
                <a:latin typeface="Calibri" pitchFamily="34" charset="0"/>
                <a:ea typeface="Calibri" pitchFamily="34" charset="-122"/>
                <a:cs typeface="Calibri" pitchFamily="34" charset="-120"/>
              </a:rPr>
              <a:t>bewegingsvraagstuk</a:t>
            </a:r>
            <a:pPr algn="l" indent="0" marL="0">
              <a:buNone/>
            </a:pPr>
            <a:r>
              <a:rPr lang="en-US" sz="1600" dirty="0">
                <a:solidFill>
                  <a:srgbClr val="FFFFFF"/>
                </a:solidFill>
                <a:latin typeface="Calibri" pitchFamily="34" charset="0"/>
                <a:ea typeface="Calibri" pitchFamily="34" charset="-122"/>
                <a:cs typeface="Calibri" pitchFamily="34" charset="-120"/>
              </a:rPr>
              <a:t>: wat kost het om data te verplaatsen, en onder welke voorwaarden mag dat?</a:t>
            </a:r>
            <a:endParaRPr lang="en-US" sz="1600" dirty="0"/>
          </a:p>
        </p:txBody>
      </p:sp>
      <p:sp>
        <p:nvSpPr>
          <p:cNvPr id="4" name="Text 2"/>
          <p:cNvSpPr txBox="1"/>
          <p:nvPr/>
        </p:nvSpPr>
        <p:spPr>
          <a:xfrm>
            <a:off x="822960" y="2651760"/>
            <a:ext cx="4937760" cy="1005840"/>
          </a:xfrm>
          <a:prstGeom prst="rect">
            <a:avLst/>
          </a:prstGeom>
          <a:noFill/>
          <a:ln/>
        </p:spPr>
        <p:txBody>
          <a:bodyPr wrap="square" lIns="0" tIns="0" rIns="0" bIns="0" rtlCol="0" anchor="b"/>
          <a:lstStyle/>
          <a:p>
            <a:pPr algn="l" indent="0" marL="0">
              <a:buNone/>
            </a:pPr>
            <a:r>
              <a:rPr lang="en-US" sz="5400" b="1" dirty="0">
                <a:solidFill>
                  <a:srgbClr val="00C895"/>
                </a:solidFill>
                <a:latin typeface="Calibri" pitchFamily="34" charset="0"/>
                <a:ea typeface="Calibri" pitchFamily="34" charset="-122"/>
                <a:cs typeface="Calibri" pitchFamily="34" charset="-120"/>
              </a:rPr>
              <a:t>5–10×</a:t>
            </a:r>
            <a:endParaRPr lang="en-US" sz="5400" dirty="0"/>
          </a:p>
        </p:txBody>
      </p:sp>
      <p:sp>
        <p:nvSpPr>
          <p:cNvPr id="5" name="Text 3"/>
          <p:cNvSpPr txBox="1"/>
          <p:nvPr/>
        </p:nvSpPr>
        <p:spPr>
          <a:xfrm>
            <a:off x="822960" y="3611880"/>
            <a:ext cx="4937760" cy="822960"/>
          </a:xfrm>
          <a:prstGeom prst="rect">
            <a:avLst/>
          </a:prstGeom>
          <a:noFill/>
          <a:ln/>
        </p:spPr>
        <p:txBody>
          <a:bodyPr wrap="square" lIns="0" tIns="0" rIns="0" bIns="0" rtlCol="0" anchor="t"/>
          <a:lstStyle/>
          <a:p>
            <a:pPr algn="l" indent="0" marL="0">
              <a:lnSpc>
                <a:spcPct val="120000"/>
              </a:lnSpc>
              <a:buNone/>
            </a:pPr>
            <a:r>
              <a:rPr lang="en-US" sz="1400" dirty="0">
                <a:solidFill>
                  <a:srgbClr val="FFFFFF"/>
                </a:solidFill>
                <a:latin typeface="Calibri" pitchFamily="34" charset="0"/>
                <a:ea typeface="Calibri" pitchFamily="34" charset="-122"/>
                <a:cs typeface="Calibri" pitchFamily="34" charset="-120"/>
              </a:rPr>
              <a:t>duurdere egress bij hyperscalers</a:t>
            </a:r>
            <a:endParaRPr lang="en-US" sz="1400" dirty="0"/>
          </a:p>
          <a:p>
            <a:pPr algn="l" indent="0" marL="0">
              <a:lnSpc>
                <a:spcPct val="120000"/>
              </a:lnSpc>
              <a:buNone/>
            </a:pPr>
            <a:r>
              <a:rPr lang="en-US" sz="1400" dirty="0">
                <a:solidFill>
                  <a:srgbClr val="FFFFFF"/>
                </a:solidFill>
                <a:latin typeface="Calibri" pitchFamily="34" charset="0"/>
                <a:ea typeface="Calibri" pitchFamily="34" charset="-122"/>
                <a:cs typeface="Calibri" pitchFamily="34" charset="-120"/>
              </a:rPr>
              <a:t>vergeleken met Europese aanbieders</a:t>
            </a:r>
            <a:endParaRPr lang="en-US" sz="1400" dirty="0"/>
          </a:p>
        </p:txBody>
      </p:sp>
      <p:sp>
        <p:nvSpPr>
          <p:cNvPr id="6" name="Text 4"/>
          <p:cNvSpPr txBox="1"/>
          <p:nvPr/>
        </p:nvSpPr>
        <p:spPr>
          <a:xfrm>
            <a:off x="6400800" y="2651760"/>
            <a:ext cx="4937760" cy="1005840"/>
          </a:xfrm>
          <a:prstGeom prst="rect">
            <a:avLst/>
          </a:prstGeom>
          <a:noFill/>
          <a:ln/>
        </p:spPr>
        <p:txBody>
          <a:bodyPr wrap="square" lIns="0" tIns="0" rIns="0" bIns="0" rtlCol="0" anchor="b"/>
          <a:lstStyle/>
          <a:p>
            <a:pPr algn="l" indent="0" marL="0">
              <a:buNone/>
            </a:pPr>
            <a:r>
              <a:rPr lang="en-US" sz="5400" b="1" dirty="0">
                <a:solidFill>
                  <a:srgbClr val="ABFF88"/>
                </a:solidFill>
                <a:latin typeface="Calibri" pitchFamily="34" charset="0"/>
                <a:ea typeface="Calibri" pitchFamily="34" charset="-122"/>
                <a:cs typeface="Calibri" pitchFamily="34" charset="-120"/>
              </a:rPr>
              <a:t>80–95%</a:t>
            </a:r>
            <a:endParaRPr lang="en-US" sz="5400" dirty="0"/>
          </a:p>
        </p:txBody>
      </p:sp>
      <p:sp>
        <p:nvSpPr>
          <p:cNvPr id="7" name="Text 5"/>
          <p:cNvSpPr txBox="1"/>
          <p:nvPr/>
        </p:nvSpPr>
        <p:spPr>
          <a:xfrm>
            <a:off x="6400800" y="3611880"/>
            <a:ext cx="4937760" cy="822960"/>
          </a:xfrm>
          <a:prstGeom prst="rect">
            <a:avLst/>
          </a:prstGeom>
          <a:noFill/>
          <a:ln/>
        </p:spPr>
        <p:txBody>
          <a:bodyPr wrap="square" lIns="0" tIns="0" rIns="0" bIns="0" rtlCol="0" anchor="t"/>
          <a:lstStyle/>
          <a:p>
            <a:pPr algn="l" indent="0" marL="0">
              <a:lnSpc>
                <a:spcPct val="120000"/>
              </a:lnSpc>
              <a:buNone/>
            </a:pPr>
            <a:r>
              <a:rPr lang="en-US" sz="1400" dirty="0">
                <a:solidFill>
                  <a:srgbClr val="FFFFFF"/>
                </a:solidFill>
                <a:latin typeface="Calibri" pitchFamily="34" charset="0"/>
                <a:ea typeface="Calibri" pitchFamily="34" charset="-122"/>
                <a:cs typeface="Calibri" pitchFamily="34" charset="-120"/>
              </a:rPr>
              <a:t>minder cross-boundary verkeer door</a:t>
            </a:r>
            <a:endParaRPr lang="en-US" sz="1400" dirty="0"/>
          </a:p>
          <a:p>
            <a:pPr algn="l" indent="0" marL="0">
              <a:lnSpc>
                <a:spcPct val="120000"/>
              </a:lnSpc>
              <a:buNone/>
            </a:pPr>
            <a:r>
              <a:rPr lang="en-US" sz="1400" dirty="0">
                <a:solidFill>
                  <a:srgbClr val="FFFFFF"/>
                </a:solidFill>
                <a:latin typeface="Calibri" pitchFamily="34" charset="0"/>
                <a:ea typeface="Calibri" pitchFamily="34" charset="-122"/>
                <a:cs typeface="Calibri" pitchFamily="34" charset="-120"/>
              </a:rPr>
              <a:t>event-driven classificatie aan de bron</a:t>
            </a:r>
            <a:endParaRPr lang="en-US" sz="1400" dirty="0"/>
          </a:p>
        </p:txBody>
      </p:sp>
      <p:sp>
        <p:nvSpPr>
          <p:cNvPr id="8" name="Text 6"/>
          <p:cNvSpPr txBox="1"/>
          <p:nvPr/>
        </p:nvSpPr>
        <p:spPr>
          <a:xfrm>
            <a:off x="822960" y="5166360"/>
            <a:ext cx="10149840" cy="1005840"/>
          </a:xfrm>
          <a:prstGeom prst="rect">
            <a:avLst/>
          </a:prstGeom>
          <a:noFill/>
          <a:ln/>
        </p:spPr>
        <p:txBody>
          <a:bodyPr wrap="square" lIns="0" tIns="0" rIns="0" bIns="0" rtlCol="0" anchor="ctr"/>
          <a:lstStyle/>
          <a:p>
            <a:pPr algn="l" indent="0" marL="0">
              <a:lnSpc>
                <a:spcPct val="120000"/>
              </a:lnSpc>
              <a:buNone/>
            </a:pPr>
            <a:r>
              <a:rPr lang="en-US" sz="1350" i="1" dirty="0">
                <a:solidFill>
                  <a:srgbClr val="C2F7FF"/>
                </a:solidFill>
                <a:latin typeface="Calibri" pitchFamily="34" charset="0"/>
                <a:ea typeface="Calibri" pitchFamily="34" charset="-122"/>
                <a:cs typeface="Calibri" pitchFamily="34" charset="-120"/>
              </a:rPr>
              <a:t>Deze demo maakt dat verhaal letterlijk zichtbaar: vier Solace-brokers waarin data, puur op basis van zijn classificatie, automatisch en gegarandeerd naar de juiste — en alleen de juiste — bestemming stroomt.</a:t>
            </a:r>
            <a:endParaRPr lang="en-US" sz="1350" dirty="0"/>
          </a:p>
        </p:txBody>
      </p:sp>
      <p:sp>
        <p:nvSpPr>
          <p:cNvPr id="9" name="Text 7"/>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C2F7FF"/>
                </a:solidFill>
                <a:latin typeface="Calibri" pitchFamily="34" charset="0"/>
                <a:ea typeface="Calibri" pitchFamily="34" charset="-122"/>
                <a:cs typeface="Calibri" pitchFamily="34" charset="-120"/>
              </a:rPr>
              <a:t>Context en doelstelling</a:t>
            </a:r>
            <a:endParaRPr lang="en-US" sz="900" dirty="0"/>
          </a:p>
        </p:txBody>
      </p:sp>
      <p:sp>
        <p:nvSpPr>
          <p:cNvPr id="10" name="Text 8"/>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C2F7FF"/>
                </a:solidFill>
                <a:latin typeface="Calibri" pitchFamily="34" charset="0"/>
                <a:ea typeface="Calibri" pitchFamily="34" charset="-122"/>
                <a:cs typeface="Calibri" pitchFamily="34" charset="-120"/>
              </a:rPr>
              <a:t>DADD 2026</a:t>
            </a:r>
            <a:endParaRPr lang="en-US" sz="900" dirty="0"/>
          </a:p>
        </p:txBody>
      </p:sp>
      <p:sp>
        <p:nvSpPr>
          <p:cNvPr id="11" name="Text 0"/>
          <p:cNvSpPr/>
          <p:nvPr>
            <p:ph idx="101" type="body" hasCustomPrompt="1"/>
          </p:nvPr>
        </p:nvSpPr>
        <p:spPr>
          <a:xfrm>
            <a:off x="731520" y="1508760"/>
            <a:ext cx="10698480" cy="4480560"/>
          </a:xfrm>
          <a:prstGeom prst="rect">
            <a:avLst/>
          </a:prstGeom>
          <a:noFill/>
          <a:ln/>
        </p:spPr>
        <p:txBody>
          <a:bodyPr wrap="square" rtlCol="0" anchor="t"/>
          <a:lstStyle/>
          <a:p>
            <a:pPr algn="l" indent="0" marL="0">
              <a:buNone/>
            </a:pP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t"/>
          <a:lstStyle/>
          <a:p>
            <a:pPr algn="l" indent="0" marL="0">
              <a:buNone/>
            </a:pPr>
            <a:r>
              <a:rPr lang="en-US" sz="2800" b="1" dirty="0">
                <a:solidFill>
                  <a:srgbClr val="093B5F"/>
                </a:solidFill>
                <a:latin typeface="Calibri" pitchFamily="34" charset="0"/>
                <a:ea typeface="Calibri" pitchFamily="34" charset="-122"/>
                <a:cs typeface="Calibri" pitchFamily="34" charset="-120"/>
              </a:rPr>
              <a:t>Scenario: Enewable</a:t>
            </a:r>
            <a:endParaRPr lang="en-US" sz="2800" dirty="0"/>
          </a:p>
        </p:txBody>
      </p:sp>
      <p:sp>
        <p:nvSpPr>
          <p:cNvPr id="3" name="Text 1"/>
          <p:cNvSpPr txBox="1"/>
          <p:nvPr/>
        </p:nvSpPr>
        <p:spPr>
          <a:xfrm>
            <a:off x="548640" y="1188720"/>
            <a:ext cx="11064240" cy="502920"/>
          </a:xfrm>
          <a:prstGeom prst="rect">
            <a:avLst/>
          </a:prstGeom>
          <a:noFill/>
          <a:ln/>
        </p:spPr>
        <p:txBody>
          <a:bodyPr wrap="square" lIns="0" tIns="0" rIns="0" bIns="0" rtlCol="0" anchor="ctr"/>
          <a:lstStyle/>
          <a:p>
            <a:pPr indent="0" marL="0">
              <a:buNone/>
            </a:pPr>
            <a:r>
              <a:rPr lang="en-US" sz="1350" dirty="0">
                <a:solidFill>
                  <a:srgbClr val="4A4A4A"/>
                </a:solidFill>
                <a:latin typeface="Calibri" pitchFamily="34" charset="0"/>
                <a:ea typeface="Calibri" pitchFamily="34" charset="-122"/>
                <a:cs typeface="Calibri" pitchFamily="34" charset="-120"/>
              </a:rPr>
              <a:t>Een fictieve, nieuwe Nederlandse energieleverancier. Drie soorten data, oplopend in gevoeligheid — elk met zijn eigen, architecturaal afgedwongen bestemming.</a:t>
            </a:r>
            <a:endParaRPr lang="en-US" sz="1350" dirty="0"/>
          </a:p>
        </p:txBody>
      </p:sp>
      <p:sp>
        <p:nvSpPr>
          <p:cNvPr id="4" name="Shape 2"/>
          <p:cNvSpPr/>
          <p:nvPr/>
        </p:nvSpPr>
        <p:spPr>
          <a:xfrm>
            <a:off x="548640" y="1874520"/>
            <a:ext cx="3520440" cy="3977640"/>
          </a:xfrm>
          <a:prstGeom prst="roundRect">
            <a:avLst>
              <a:gd name="adj" fmla="val 3117"/>
            </a:avLst>
          </a:prstGeom>
          <a:solidFill>
            <a:srgbClr val="FFFFFF"/>
          </a:solidFill>
          <a:ln w="19050">
            <a:solidFill>
              <a:srgbClr val="00C895"/>
            </a:solidFill>
            <a:prstDash val="solid"/>
          </a:ln>
          <a:effectLst>
            <a:outerShdw sx="100000" sy="100000" kx="0" ky="0" algn="bl" rotWithShape="0" blurRad="76200" dist="25400" dir="5400000">
              <a:srgbClr val="1A1A1A">
                <a:alpha val="12000"/>
              </a:srgbClr>
            </a:outerShdw>
          </a:effectLst>
        </p:spPr>
      </p:sp>
      <p:sp>
        <p:nvSpPr>
          <p:cNvPr id="5" name="Shape 3"/>
          <p:cNvSpPr/>
          <p:nvPr/>
        </p:nvSpPr>
        <p:spPr>
          <a:xfrm>
            <a:off x="804672" y="2130552"/>
            <a:ext cx="384048" cy="384048"/>
          </a:xfrm>
          <a:prstGeom prst="ellipse">
            <a:avLst/>
          </a:prstGeom>
          <a:solidFill>
            <a:srgbClr val="00C895"/>
          </a:solidFill>
          <a:ln/>
        </p:spPr>
      </p:sp>
      <p:sp>
        <p:nvSpPr>
          <p:cNvPr id="6" name="Text 4"/>
          <p:cNvSpPr txBox="1"/>
          <p:nvPr/>
        </p:nvSpPr>
        <p:spPr>
          <a:xfrm>
            <a:off x="1325880" y="2075688"/>
            <a:ext cx="256032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Publiek</a:t>
            </a:r>
            <a:endParaRPr lang="en-US" sz="1500" dirty="0"/>
          </a:p>
        </p:txBody>
      </p:sp>
      <p:sp>
        <p:nvSpPr>
          <p:cNvPr id="7" name="Text 5"/>
          <p:cNvSpPr txBox="1"/>
          <p:nvPr/>
        </p:nvSpPr>
        <p:spPr>
          <a:xfrm>
            <a:off x="822960" y="2651760"/>
            <a:ext cx="2971800" cy="301752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Day-ahead energieprijzen, publieke weerdata.</a:t>
            </a:r>
            <a:endParaRPr lang="en-US" sz="1150" dirty="0"/>
          </a:p>
          <a:p>
            <a:pPr algn="l" indent="0" marL="0">
              <a:lnSpc>
                <a:spcPct val="115000"/>
              </a:lnSpc>
              <a:buNone/>
            </a:pPr>
            <a:endParaRPr lang="en-US" sz="1150" dirty="0"/>
          </a:p>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Geen concurrentie- of privacygevoeligheid — vrij te delen, ook met een Amerikaanse hyperscaler.</a:t>
            </a:r>
            <a:endParaRPr lang="en-US" sz="1150" dirty="0"/>
          </a:p>
          <a:p>
            <a:pPr algn="l" indent="0" marL="0">
              <a:lnSpc>
                <a:spcPct val="115000"/>
              </a:lnSpc>
              <a:buNone/>
            </a:pPr>
            <a:endParaRPr lang="en-US" sz="1150" dirty="0"/>
          </a:p>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Bestemming: AWS (US East).</a:t>
            </a:r>
            <a:endParaRPr lang="en-US" sz="1150" dirty="0"/>
          </a:p>
        </p:txBody>
      </p:sp>
      <p:sp>
        <p:nvSpPr>
          <p:cNvPr id="8" name="Shape 6"/>
          <p:cNvSpPr/>
          <p:nvPr/>
        </p:nvSpPr>
        <p:spPr>
          <a:xfrm>
            <a:off x="4343400" y="1874520"/>
            <a:ext cx="3520440" cy="3977640"/>
          </a:xfrm>
          <a:prstGeom prst="roundRect">
            <a:avLst>
              <a:gd name="adj" fmla="val 3117"/>
            </a:avLst>
          </a:prstGeom>
          <a:solidFill>
            <a:srgbClr val="FFFFFF"/>
          </a:solidFill>
          <a:ln w="19050">
            <a:solidFill>
              <a:srgbClr val="093B5F"/>
            </a:solidFill>
            <a:prstDash val="solid"/>
          </a:ln>
          <a:effectLst>
            <a:outerShdw sx="100000" sy="100000" kx="0" ky="0" algn="bl" rotWithShape="0" blurRad="76200" dist="25400" dir="5400000">
              <a:srgbClr val="1A1A1A">
                <a:alpha val="12000"/>
              </a:srgbClr>
            </a:outerShdw>
          </a:effectLst>
        </p:spPr>
      </p:sp>
      <p:sp>
        <p:nvSpPr>
          <p:cNvPr id="9" name="Shape 7"/>
          <p:cNvSpPr/>
          <p:nvPr/>
        </p:nvSpPr>
        <p:spPr>
          <a:xfrm>
            <a:off x="4599432" y="2130552"/>
            <a:ext cx="384048" cy="384048"/>
          </a:xfrm>
          <a:prstGeom prst="ellipse">
            <a:avLst/>
          </a:prstGeom>
          <a:solidFill>
            <a:srgbClr val="093B5F"/>
          </a:solidFill>
          <a:ln/>
        </p:spPr>
      </p:sp>
      <p:sp>
        <p:nvSpPr>
          <p:cNvPr id="10" name="Text 8"/>
          <p:cNvSpPr txBox="1"/>
          <p:nvPr/>
        </p:nvSpPr>
        <p:spPr>
          <a:xfrm>
            <a:off x="5120640" y="2075688"/>
            <a:ext cx="256032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Niet-persoonlijk, EU</a:t>
            </a:r>
            <a:endParaRPr lang="en-US" sz="1500" dirty="0"/>
          </a:p>
        </p:txBody>
      </p:sp>
      <p:sp>
        <p:nvSpPr>
          <p:cNvPr id="11" name="Text 9"/>
          <p:cNvSpPr txBox="1"/>
          <p:nvPr/>
        </p:nvSpPr>
        <p:spPr>
          <a:xfrm>
            <a:off x="4617720" y="2651760"/>
            <a:ext cx="2971800" cy="301752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Geaggregeerde netbelasting per postcodegebied.</a:t>
            </a:r>
            <a:endParaRPr lang="en-US" sz="1150" dirty="0"/>
          </a:p>
          <a:p>
            <a:pPr algn="l" indent="0" marL="0">
              <a:lnSpc>
                <a:spcPct val="115000"/>
              </a:lnSpc>
              <a:buNone/>
            </a:pPr>
            <a:endParaRPr lang="en-US" sz="1150" dirty="0"/>
          </a:p>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Operationeel en EU-gebonden, maar niet tot een individu herleidbaar.</a:t>
            </a:r>
            <a:endParaRPr lang="en-US" sz="1150" dirty="0"/>
          </a:p>
          <a:p>
            <a:pPr algn="l" indent="0" marL="0">
              <a:lnSpc>
                <a:spcPct val="115000"/>
              </a:lnSpc>
              <a:buNone/>
            </a:pPr>
            <a:endParaRPr lang="en-US" sz="1150" dirty="0"/>
          </a:p>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Bestemming: Azure (West Europe, NL).</a:t>
            </a:r>
            <a:endParaRPr lang="en-US" sz="1150" dirty="0"/>
          </a:p>
        </p:txBody>
      </p:sp>
      <p:sp>
        <p:nvSpPr>
          <p:cNvPr id="12" name="Shape 10"/>
          <p:cNvSpPr/>
          <p:nvPr/>
        </p:nvSpPr>
        <p:spPr>
          <a:xfrm>
            <a:off x="8138160" y="1874520"/>
            <a:ext cx="3520440" cy="3977640"/>
          </a:xfrm>
          <a:prstGeom prst="roundRect">
            <a:avLst>
              <a:gd name="adj" fmla="val 3117"/>
            </a:avLst>
          </a:prstGeom>
          <a:solidFill>
            <a:srgbClr val="FFFFFF"/>
          </a:solidFill>
          <a:ln w="19050">
            <a:solidFill>
              <a:srgbClr val="FCA829"/>
            </a:solidFill>
            <a:prstDash val="solid"/>
          </a:ln>
          <a:effectLst>
            <a:outerShdw sx="100000" sy="100000" kx="0" ky="0" algn="bl" rotWithShape="0" blurRad="76200" dist="25400" dir="5400000">
              <a:srgbClr val="1A1A1A">
                <a:alpha val="12000"/>
              </a:srgbClr>
            </a:outerShdw>
          </a:effectLst>
        </p:spPr>
      </p:sp>
      <p:sp>
        <p:nvSpPr>
          <p:cNvPr id="13" name="Shape 11"/>
          <p:cNvSpPr/>
          <p:nvPr/>
        </p:nvSpPr>
        <p:spPr>
          <a:xfrm>
            <a:off x="8394192" y="2130552"/>
            <a:ext cx="384048" cy="384048"/>
          </a:xfrm>
          <a:prstGeom prst="ellipse">
            <a:avLst/>
          </a:prstGeom>
          <a:solidFill>
            <a:srgbClr val="FCA829"/>
          </a:solidFill>
          <a:ln/>
        </p:spPr>
      </p:sp>
      <p:sp>
        <p:nvSpPr>
          <p:cNvPr id="14" name="Text 12"/>
          <p:cNvSpPr txBox="1"/>
          <p:nvPr/>
        </p:nvSpPr>
        <p:spPr>
          <a:xfrm>
            <a:off x="8915400" y="2075688"/>
            <a:ext cx="256032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Gevoelige PII</a:t>
            </a:r>
            <a:endParaRPr lang="en-US" sz="1500" dirty="0"/>
          </a:p>
        </p:txBody>
      </p:sp>
      <p:sp>
        <p:nvSpPr>
          <p:cNvPr id="15" name="Text 13"/>
          <p:cNvSpPr txBox="1"/>
          <p:nvPr/>
        </p:nvSpPr>
        <p:spPr>
          <a:xfrm>
            <a:off x="8412480" y="2651760"/>
            <a:ext cx="2971800" cy="301752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Individuele slimme-meterstand + klant-ID, facturatie.</a:t>
            </a:r>
            <a:endParaRPr lang="en-US" sz="1150" dirty="0"/>
          </a:p>
          <a:p>
            <a:pPr algn="l" indent="0" marL="0">
              <a:lnSpc>
                <a:spcPct val="115000"/>
              </a:lnSpc>
              <a:buNone/>
            </a:pPr>
            <a:endParaRPr lang="en-US" sz="1150" dirty="0"/>
          </a:p>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Persoonsgegeven, valt onder AVG/GDPR — hoogste bescherming.</a:t>
            </a:r>
            <a:endParaRPr lang="en-US" sz="1150" dirty="0"/>
          </a:p>
          <a:p>
            <a:pPr algn="l" indent="0" marL="0">
              <a:lnSpc>
                <a:spcPct val="115000"/>
              </a:lnSpc>
              <a:buNone/>
            </a:pPr>
            <a:endParaRPr lang="en-US" sz="1150" dirty="0"/>
          </a:p>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Bestemming: STACKIT (Duitsland, soeverein).</a:t>
            </a:r>
            <a:endParaRPr lang="en-US" sz="1150" dirty="0"/>
          </a:p>
        </p:txBody>
      </p:sp>
      <p:sp>
        <p:nvSpPr>
          <p:cNvPr id="16" name="Text 14"/>
          <p:cNvSpPr txBox="1"/>
          <p:nvPr/>
        </p:nvSpPr>
        <p:spPr>
          <a:xfrm>
            <a:off x="548640" y="6016752"/>
            <a:ext cx="11064240" cy="365760"/>
          </a:xfrm>
          <a:prstGeom prst="rect">
            <a:avLst/>
          </a:prstGeom>
          <a:noFill/>
          <a:ln/>
        </p:spPr>
        <p:txBody>
          <a:bodyPr wrap="square" lIns="0" tIns="0" rIns="0" bIns="0" rtlCol="0" anchor="ctr"/>
          <a:lstStyle/>
          <a:p>
            <a:pPr indent="0" marL="0">
              <a:buNone/>
            </a:pPr>
            <a:r>
              <a:rPr lang="en-US" sz="1050" i="1" dirty="0">
                <a:solidFill>
                  <a:srgbClr val="8A8A8A"/>
                </a:solidFill>
                <a:latin typeface="Calibri" pitchFamily="34" charset="0"/>
                <a:ea typeface="Calibri" pitchFamily="34" charset="-122"/>
                <a:cs typeface="Calibri" pitchFamily="34" charset="-120"/>
              </a:rPr>
              <a:t>Alle voorbeelddata in de demo is gesynthetiseerd — nooit echte persoonsdata.</a:t>
            </a:r>
            <a:endParaRPr lang="en-US" sz="1050" dirty="0"/>
          </a:p>
        </p:txBody>
      </p:sp>
      <p:sp>
        <p:nvSpPr>
          <p:cNvPr id="17" name="Text 15"/>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Scenario</a:t>
            </a:r>
            <a:endParaRPr lang="en-US" sz="900" dirty="0"/>
          </a:p>
        </p:txBody>
      </p:sp>
      <p:sp>
        <p:nvSpPr>
          <p:cNvPr id="18" name="Text 16"/>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DADD 2026</a:t>
            </a:r>
            <a:endParaRPr lang="en-US" sz="900" dirty="0"/>
          </a:p>
        </p:txBody>
      </p:sp>
      <p:sp>
        <p:nvSpPr>
          <p:cNvPr id="19" name="Text 0"/>
          <p:cNvSpPr/>
          <p:nvPr>
            <p:ph idx="101" type="body" hasCustomPrompt="1"/>
          </p:nvPr>
        </p:nvSpPr>
        <p:spPr>
          <a:xfrm>
            <a:off x="548640" y="1234440"/>
            <a:ext cx="11064240" cy="5120640"/>
          </a:xfrm>
          <a:prstGeom prst="rect">
            <a:avLst/>
          </a:prstGeom>
          <a:noFill/>
          <a:ln/>
        </p:spPr>
        <p:txBody>
          <a:bodyPr wrap="square" rtlCol="0" anchor="t"/>
          <a:lstStyle/>
          <a:p>
            <a:pPr algn="l" indent="0" marL="0">
              <a:buNone/>
            </a:pP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t"/>
          <a:lstStyle/>
          <a:p>
            <a:pPr algn="l" indent="0" marL="0">
              <a:buNone/>
            </a:pPr>
            <a:r>
              <a:rPr lang="en-US" sz="2800" b="1" dirty="0">
                <a:solidFill>
                  <a:srgbClr val="093B5F"/>
                </a:solidFill>
                <a:latin typeface="Calibri" pitchFamily="34" charset="0"/>
                <a:ea typeface="Calibri" pitchFamily="34" charset="-122"/>
                <a:cs typeface="Calibri" pitchFamily="34" charset="-120"/>
              </a:rPr>
              <a:t>Architectuur: van bron tot bestemming</a:t>
            </a:r>
            <a:endParaRPr lang="en-US" sz="2800" dirty="0"/>
          </a:p>
        </p:txBody>
      </p:sp>
      <p:sp>
        <p:nvSpPr>
          <p:cNvPr id="3" name="Shape 1"/>
          <p:cNvSpPr/>
          <p:nvPr/>
        </p:nvSpPr>
        <p:spPr>
          <a:xfrm>
            <a:off x="640080" y="1920240"/>
            <a:ext cx="3017520" cy="3566160"/>
          </a:xfrm>
          <a:prstGeom prst="roundRect">
            <a:avLst>
              <a:gd name="adj" fmla="val 3636"/>
            </a:avLst>
          </a:prstGeom>
          <a:solidFill>
            <a:srgbClr val="F4F4F4"/>
          </a:solidFill>
          <a:ln w="25400">
            <a:solidFill>
              <a:srgbClr val="093B5F"/>
            </a:solidFill>
            <a:prstDash val="solid"/>
          </a:ln>
        </p:spPr>
      </p:sp>
      <p:sp>
        <p:nvSpPr>
          <p:cNvPr id="4" name="Text 2"/>
          <p:cNvSpPr txBox="1"/>
          <p:nvPr/>
        </p:nvSpPr>
        <p:spPr>
          <a:xfrm>
            <a:off x="640080" y="2057400"/>
            <a:ext cx="3017520" cy="365760"/>
          </a:xfrm>
          <a:prstGeom prst="rect">
            <a:avLst/>
          </a:prstGeom>
          <a:noFill/>
          <a:ln/>
        </p:spPr>
        <p:txBody>
          <a:bodyPr wrap="square" lIns="0" tIns="0" rIns="0" bIns="0" rtlCol="0" anchor="ctr"/>
          <a:lstStyle/>
          <a:p>
            <a:pPr algn="ctr" indent="0" marL="0">
              <a:buNone/>
            </a:pPr>
            <a:r>
              <a:rPr lang="en-US" sz="1400" b="1" dirty="0">
                <a:solidFill>
                  <a:srgbClr val="093B5F"/>
                </a:solidFill>
                <a:latin typeface="Calibri" pitchFamily="34" charset="0"/>
                <a:ea typeface="Calibri" pitchFamily="34" charset="-122"/>
                <a:cs typeface="Calibri" pitchFamily="34" charset="-120"/>
              </a:rPr>
              <a:t>Lokale broker</a:t>
            </a:r>
            <a:endParaRPr lang="en-US" sz="1400" dirty="0"/>
          </a:p>
        </p:txBody>
      </p:sp>
      <p:sp>
        <p:nvSpPr>
          <p:cNvPr id="5" name="Text 3"/>
          <p:cNvSpPr txBox="1"/>
          <p:nvPr/>
        </p:nvSpPr>
        <p:spPr>
          <a:xfrm>
            <a:off x="640080" y="2423160"/>
            <a:ext cx="3017520" cy="274320"/>
          </a:xfrm>
          <a:prstGeom prst="rect">
            <a:avLst/>
          </a:prstGeom>
          <a:noFill/>
          <a:ln/>
        </p:spPr>
        <p:txBody>
          <a:bodyPr wrap="square" lIns="0" tIns="0" rIns="0" bIns="0" rtlCol="0" anchor="ctr"/>
          <a:lstStyle/>
          <a:p>
            <a:pPr algn="ctr" indent="0" marL="0">
              <a:buNone/>
            </a:pPr>
            <a:r>
              <a:rPr lang="en-US" sz="950" dirty="0">
                <a:solidFill>
                  <a:srgbClr val="6A6A6A"/>
                </a:solidFill>
                <a:latin typeface="Calibri" pitchFamily="34" charset="0"/>
                <a:ea typeface="Calibri" pitchFamily="34" charset="-122"/>
                <a:cs typeface="Calibri" pitchFamily="34" charset="-120"/>
              </a:rPr>
              <a:t>self-managed · Docker · VPN enewable</a:t>
            </a:r>
            <a:endParaRPr lang="en-US" sz="950" dirty="0"/>
          </a:p>
        </p:txBody>
      </p:sp>
      <p:sp>
        <p:nvSpPr>
          <p:cNvPr id="6" name="Shape 4"/>
          <p:cNvSpPr/>
          <p:nvPr/>
        </p:nvSpPr>
        <p:spPr>
          <a:xfrm>
            <a:off x="914400" y="2816352"/>
            <a:ext cx="2468880" cy="512064"/>
          </a:xfrm>
          <a:prstGeom prst="roundRect">
            <a:avLst>
              <a:gd name="adj" fmla="val 14286"/>
            </a:avLst>
          </a:prstGeom>
          <a:solidFill>
            <a:srgbClr val="FFFFFF"/>
          </a:solidFill>
          <a:ln w="12700">
            <a:solidFill>
              <a:srgbClr val="093B5F"/>
            </a:solidFill>
            <a:prstDash val="solid"/>
          </a:ln>
        </p:spPr>
      </p:sp>
      <p:sp>
        <p:nvSpPr>
          <p:cNvPr id="7" name="Text 5"/>
          <p:cNvSpPr txBox="1"/>
          <p:nvPr/>
        </p:nvSpPr>
        <p:spPr>
          <a:xfrm>
            <a:off x="914400" y="2816352"/>
            <a:ext cx="2468880" cy="512064"/>
          </a:xfrm>
          <a:prstGeom prst="rect">
            <a:avLst/>
          </a:prstGeom>
          <a:noFill/>
          <a:ln/>
        </p:spPr>
        <p:txBody>
          <a:bodyPr wrap="square" lIns="0" tIns="0" rIns="0" bIns="0" rtlCol="0" anchor="ctr"/>
          <a:lstStyle/>
          <a:p>
            <a:pPr algn="ctr" indent="0" marL="0">
              <a:buNone/>
            </a:pPr>
            <a:r>
              <a:rPr lang="en-US" sz="1100" b="1" dirty="0">
                <a:solidFill>
                  <a:srgbClr val="093B5F"/>
                </a:solidFill>
                <a:latin typeface="Calibri" pitchFamily="34" charset="0"/>
                <a:ea typeface="Calibri" pitchFamily="34" charset="-122"/>
                <a:cs typeface="Calibri" pitchFamily="34" charset="-120"/>
              </a:rPr>
              <a:t>stm CLI</a:t>
            </a:r>
            <a:endParaRPr lang="en-US" sz="1100" dirty="0"/>
          </a:p>
        </p:txBody>
      </p:sp>
      <p:sp>
        <p:nvSpPr>
          <p:cNvPr id="8" name="Shape 6"/>
          <p:cNvSpPr/>
          <p:nvPr/>
        </p:nvSpPr>
        <p:spPr>
          <a:xfrm>
            <a:off x="914400" y="3474720"/>
            <a:ext cx="2468880" cy="512064"/>
          </a:xfrm>
          <a:prstGeom prst="roundRect">
            <a:avLst>
              <a:gd name="adj" fmla="val 14286"/>
            </a:avLst>
          </a:prstGeom>
          <a:solidFill>
            <a:srgbClr val="FFFFFF"/>
          </a:solidFill>
          <a:ln w="12700">
            <a:solidFill>
              <a:srgbClr val="093B5F"/>
            </a:solidFill>
            <a:prstDash val="solid"/>
          </a:ln>
        </p:spPr>
      </p:sp>
      <p:sp>
        <p:nvSpPr>
          <p:cNvPr id="9" name="Text 7"/>
          <p:cNvSpPr txBox="1"/>
          <p:nvPr/>
        </p:nvSpPr>
        <p:spPr>
          <a:xfrm>
            <a:off x="914400" y="3474720"/>
            <a:ext cx="2468880" cy="512064"/>
          </a:xfrm>
          <a:prstGeom prst="rect">
            <a:avLst/>
          </a:prstGeom>
          <a:noFill/>
          <a:ln/>
        </p:spPr>
        <p:txBody>
          <a:bodyPr wrap="square" lIns="0" tIns="0" rIns="0" bIns="0" rtlCol="0" anchor="ctr"/>
          <a:lstStyle/>
          <a:p>
            <a:pPr algn="ctr" indent="0" marL="0">
              <a:buNone/>
            </a:pPr>
            <a:r>
              <a:rPr lang="en-US" sz="1100" b="1" dirty="0">
                <a:solidFill>
                  <a:srgbClr val="093B5F"/>
                </a:solidFill>
                <a:latin typeface="Calibri" pitchFamily="34" charset="0"/>
                <a:ea typeface="Calibri" pitchFamily="34" charset="-122"/>
                <a:cs typeface="Calibri" pitchFamily="34" charset="-120"/>
              </a:rPr>
              <a:t>Python-script</a:t>
            </a:r>
            <a:endParaRPr lang="en-US" sz="1100" dirty="0"/>
          </a:p>
        </p:txBody>
      </p:sp>
      <p:sp>
        <p:nvSpPr>
          <p:cNvPr id="10" name="Shape 8"/>
          <p:cNvSpPr/>
          <p:nvPr/>
        </p:nvSpPr>
        <p:spPr>
          <a:xfrm>
            <a:off x="914400" y="4133088"/>
            <a:ext cx="2468880" cy="512064"/>
          </a:xfrm>
          <a:prstGeom prst="roundRect">
            <a:avLst>
              <a:gd name="adj" fmla="val 14286"/>
            </a:avLst>
          </a:prstGeom>
          <a:solidFill>
            <a:srgbClr val="FFFFFF"/>
          </a:solidFill>
          <a:ln w="12700">
            <a:solidFill>
              <a:srgbClr val="093B5F"/>
            </a:solidFill>
            <a:prstDash val="solid"/>
          </a:ln>
        </p:spPr>
      </p:sp>
      <p:sp>
        <p:nvSpPr>
          <p:cNvPr id="11" name="Text 9"/>
          <p:cNvSpPr txBox="1"/>
          <p:nvPr/>
        </p:nvSpPr>
        <p:spPr>
          <a:xfrm>
            <a:off x="914400" y="4133088"/>
            <a:ext cx="2468880" cy="512064"/>
          </a:xfrm>
          <a:prstGeom prst="rect">
            <a:avLst/>
          </a:prstGeom>
          <a:noFill/>
          <a:ln/>
        </p:spPr>
        <p:txBody>
          <a:bodyPr wrap="square" lIns="0" tIns="0" rIns="0" bIns="0" rtlCol="0" anchor="ctr"/>
          <a:lstStyle/>
          <a:p>
            <a:pPr algn="ctr" indent="0" marL="0">
              <a:buNone/>
            </a:pPr>
            <a:r>
              <a:rPr lang="en-US" sz="1100" b="1" dirty="0">
                <a:solidFill>
                  <a:srgbClr val="093B5F"/>
                </a:solidFill>
                <a:latin typeface="Calibri" pitchFamily="34" charset="0"/>
                <a:ea typeface="Calibri" pitchFamily="34" charset="-122"/>
                <a:cs typeface="Calibri" pitchFamily="34" charset="-120"/>
              </a:rPr>
              <a:t>SDKPerf</a:t>
            </a:r>
            <a:endParaRPr lang="en-US" sz="1100" dirty="0"/>
          </a:p>
        </p:txBody>
      </p:sp>
      <p:sp>
        <p:nvSpPr>
          <p:cNvPr id="12" name="Text 10"/>
          <p:cNvSpPr txBox="1"/>
          <p:nvPr/>
        </p:nvSpPr>
        <p:spPr>
          <a:xfrm>
            <a:off x="777240" y="4864608"/>
            <a:ext cx="2743200" cy="502920"/>
          </a:xfrm>
          <a:prstGeom prst="rect">
            <a:avLst/>
          </a:prstGeom>
          <a:noFill/>
          <a:ln/>
        </p:spPr>
        <p:txBody>
          <a:bodyPr wrap="square" lIns="0" tIns="0" rIns="0" bIns="0" rtlCol="0" anchor="t"/>
          <a:lstStyle/>
          <a:p>
            <a:pPr algn="ctr" indent="0" marL="0">
              <a:lnSpc>
                <a:spcPct val="105000"/>
              </a:lnSpc>
              <a:buNone/>
            </a:pPr>
            <a:r>
              <a:rPr lang="en-US" sz="850" i="1" dirty="0">
                <a:solidFill>
                  <a:srgbClr val="6A6A6A"/>
                </a:solidFill>
                <a:latin typeface="Calibri" pitchFamily="34" charset="0"/>
                <a:ea typeface="Calibri" pitchFamily="34" charset="-122"/>
                <a:cs typeface="Calibri" pitchFamily="34" charset="-120"/>
              </a:rPr>
              <a:t>elk publiceert DIRECT, op alle 3 topic-subtrees, elk met een eigen ACL-gescoped identiteit</a:t>
            </a:r>
            <a:endParaRPr lang="en-US" sz="850" dirty="0"/>
          </a:p>
        </p:txBody>
      </p:sp>
      <p:sp>
        <p:nvSpPr>
          <p:cNvPr id="13" name="Shape 11"/>
          <p:cNvSpPr/>
          <p:nvPr/>
        </p:nvSpPr>
        <p:spPr>
          <a:xfrm>
            <a:off x="8503920" y="1920240"/>
            <a:ext cx="3063240" cy="914400"/>
          </a:xfrm>
          <a:prstGeom prst="roundRect">
            <a:avLst>
              <a:gd name="adj" fmla="val 10000"/>
            </a:avLst>
          </a:prstGeom>
          <a:solidFill>
            <a:srgbClr val="C7FFCB"/>
          </a:solidFill>
          <a:ln w="25400">
            <a:solidFill>
              <a:srgbClr val="00C895"/>
            </a:solidFill>
            <a:prstDash val="solid"/>
          </a:ln>
        </p:spPr>
      </p:sp>
      <p:sp>
        <p:nvSpPr>
          <p:cNvPr id="14" name="Text 12"/>
          <p:cNvSpPr txBox="1"/>
          <p:nvPr/>
        </p:nvSpPr>
        <p:spPr>
          <a:xfrm>
            <a:off x="8641080" y="2029968"/>
            <a:ext cx="2788920" cy="365760"/>
          </a:xfrm>
          <a:prstGeom prst="rect">
            <a:avLst/>
          </a:prstGeom>
          <a:noFill/>
          <a:ln/>
        </p:spPr>
        <p:txBody>
          <a:bodyPr wrap="square" lIns="0" tIns="0" rIns="0" bIns="0" rtlCol="0" anchor="ctr"/>
          <a:lstStyle/>
          <a:p>
            <a:pPr algn="ctr" indent="0" marL="0">
              <a:buNone/>
            </a:pPr>
            <a:r>
              <a:rPr lang="en-US" sz="1300" b="1" dirty="0">
                <a:solidFill>
                  <a:srgbClr val="093B5F"/>
                </a:solidFill>
                <a:latin typeface="Calibri" pitchFamily="34" charset="0"/>
                <a:ea typeface="Calibri" pitchFamily="34" charset="-122"/>
                <a:cs typeface="Calibri" pitchFamily="34" charset="-120"/>
              </a:rPr>
              <a:t>AWS — US East</a:t>
            </a:r>
            <a:endParaRPr lang="en-US" sz="1300" dirty="0"/>
          </a:p>
        </p:txBody>
      </p:sp>
      <p:sp>
        <p:nvSpPr>
          <p:cNvPr id="15" name="Text 13"/>
          <p:cNvSpPr txBox="1"/>
          <p:nvPr/>
        </p:nvSpPr>
        <p:spPr>
          <a:xfrm>
            <a:off x="8641080" y="2395728"/>
            <a:ext cx="2788920" cy="329184"/>
          </a:xfrm>
          <a:prstGeom prst="rect">
            <a:avLst/>
          </a:prstGeom>
          <a:noFill/>
          <a:ln/>
        </p:spPr>
        <p:txBody>
          <a:bodyPr wrap="square" lIns="0" tIns="0" rIns="0" bIns="0" rtlCol="0" anchor="t"/>
          <a:lstStyle/>
          <a:p>
            <a:pPr algn="ctr" indent="0" marL="0">
              <a:lnSpc>
                <a:spcPct val="105000"/>
              </a:lnSpc>
              <a:buNone/>
            </a:pPr>
            <a:r>
              <a:rPr lang="en-US" sz="950" dirty="0">
                <a:solidFill>
                  <a:srgbClr val="3A3A3A"/>
                </a:solidFill>
                <a:latin typeface="Calibri" pitchFamily="34" charset="0"/>
                <a:ea typeface="Calibri" pitchFamily="34" charset="-122"/>
                <a:cs typeface="Calibri" pitchFamily="34" charset="-120"/>
              </a:rPr>
              <a:t>enewable/public/&gt;</a:t>
            </a:r>
            <a:endParaRPr lang="en-US" sz="950" dirty="0"/>
          </a:p>
          <a:p>
            <a:pPr algn="ctr" indent="0" marL="0">
              <a:lnSpc>
                <a:spcPct val="105000"/>
              </a:lnSpc>
              <a:buNone/>
            </a:pPr>
            <a:r>
              <a:rPr lang="en-US" sz="950" dirty="0">
                <a:solidFill>
                  <a:srgbClr val="3A3A3A"/>
                </a:solidFill>
                <a:latin typeface="Calibri" pitchFamily="34" charset="0"/>
                <a:ea typeface="Calibri" pitchFamily="34" charset="-122"/>
                <a:cs typeface="Calibri" pitchFamily="34" charset="-120"/>
              </a:rPr>
              <a:t>Developer 100, public cluster</a:t>
            </a:r>
            <a:endParaRPr lang="en-US" sz="950" dirty="0"/>
          </a:p>
        </p:txBody>
      </p:sp>
      <p:sp>
        <p:nvSpPr>
          <p:cNvPr id="16" name="Shape 14"/>
          <p:cNvSpPr/>
          <p:nvPr/>
        </p:nvSpPr>
        <p:spPr>
          <a:xfrm>
            <a:off x="8503920" y="3063240"/>
            <a:ext cx="3063240" cy="914400"/>
          </a:xfrm>
          <a:prstGeom prst="roundRect">
            <a:avLst>
              <a:gd name="adj" fmla="val 10000"/>
            </a:avLst>
          </a:prstGeom>
          <a:solidFill>
            <a:srgbClr val="C2F7FF"/>
          </a:solidFill>
          <a:ln w="25400">
            <a:solidFill>
              <a:srgbClr val="093B5F"/>
            </a:solidFill>
            <a:prstDash val="solid"/>
          </a:ln>
        </p:spPr>
      </p:sp>
      <p:sp>
        <p:nvSpPr>
          <p:cNvPr id="17" name="Text 15"/>
          <p:cNvSpPr txBox="1"/>
          <p:nvPr/>
        </p:nvSpPr>
        <p:spPr>
          <a:xfrm>
            <a:off x="8641080" y="3172968"/>
            <a:ext cx="2788920" cy="365760"/>
          </a:xfrm>
          <a:prstGeom prst="rect">
            <a:avLst/>
          </a:prstGeom>
          <a:noFill/>
          <a:ln/>
        </p:spPr>
        <p:txBody>
          <a:bodyPr wrap="square" lIns="0" tIns="0" rIns="0" bIns="0" rtlCol="0" anchor="ctr"/>
          <a:lstStyle/>
          <a:p>
            <a:pPr algn="ctr" indent="0" marL="0">
              <a:buNone/>
            </a:pPr>
            <a:r>
              <a:rPr lang="en-US" sz="1300" b="1" dirty="0">
                <a:solidFill>
                  <a:srgbClr val="093B5F"/>
                </a:solidFill>
                <a:latin typeface="Calibri" pitchFamily="34" charset="0"/>
                <a:ea typeface="Calibri" pitchFamily="34" charset="-122"/>
                <a:cs typeface="Calibri" pitchFamily="34" charset="-120"/>
              </a:rPr>
              <a:t>Azure — West Europe</a:t>
            </a:r>
            <a:endParaRPr lang="en-US" sz="1300" dirty="0"/>
          </a:p>
        </p:txBody>
      </p:sp>
      <p:sp>
        <p:nvSpPr>
          <p:cNvPr id="18" name="Text 16"/>
          <p:cNvSpPr txBox="1"/>
          <p:nvPr/>
        </p:nvSpPr>
        <p:spPr>
          <a:xfrm>
            <a:off x="8641080" y="3538728"/>
            <a:ext cx="2788920" cy="329184"/>
          </a:xfrm>
          <a:prstGeom prst="rect">
            <a:avLst/>
          </a:prstGeom>
          <a:noFill/>
          <a:ln/>
        </p:spPr>
        <p:txBody>
          <a:bodyPr wrap="square" lIns="0" tIns="0" rIns="0" bIns="0" rtlCol="0" anchor="t"/>
          <a:lstStyle/>
          <a:p>
            <a:pPr algn="ctr" indent="0" marL="0">
              <a:lnSpc>
                <a:spcPct val="105000"/>
              </a:lnSpc>
              <a:buNone/>
            </a:pPr>
            <a:r>
              <a:rPr lang="en-US" sz="950" dirty="0">
                <a:solidFill>
                  <a:srgbClr val="3A3A3A"/>
                </a:solidFill>
                <a:latin typeface="Calibri" pitchFamily="34" charset="0"/>
                <a:ea typeface="Calibri" pitchFamily="34" charset="-122"/>
                <a:cs typeface="Calibri" pitchFamily="34" charset="-120"/>
              </a:rPr>
              <a:t>enewable/eu/ops/&gt;</a:t>
            </a:r>
            <a:endParaRPr lang="en-US" sz="950" dirty="0"/>
          </a:p>
          <a:p>
            <a:pPr algn="ctr" indent="0" marL="0">
              <a:lnSpc>
                <a:spcPct val="105000"/>
              </a:lnSpc>
              <a:buNone/>
            </a:pPr>
            <a:r>
              <a:rPr lang="en-US" sz="950" dirty="0">
                <a:solidFill>
                  <a:srgbClr val="3A3A3A"/>
                </a:solidFill>
                <a:latin typeface="Calibri" pitchFamily="34" charset="0"/>
                <a:ea typeface="Calibri" pitchFamily="34" charset="-122"/>
                <a:cs typeface="Calibri" pitchFamily="34" charset="-120"/>
              </a:rPr>
              <a:t>NL, maar Amerikaanse hyperscaler</a:t>
            </a:r>
            <a:endParaRPr lang="en-US" sz="950" dirty="0"/>
          </a:p>
        </p:txBody>
      </p:sp>
      <p:sp>
        <p:nvSpPr>
          <p:cNvPr id="19" name="Shape 17"/>
          <p:cNvSpPr/>
          <p:nvPr/>
        </p:nvSpPr>
        <p:spPr>
          <a:xfrm>
            <a:off x="8503920" y="4206240"/>
            <a:ext cx="3063240" cy="914400"/>
          </a:xfrm>
          <a:prstGeom prst="roundRect">
            <a:avLst>
              <a:gd name="adj" fmla="val 10000"/>
            </a:avLst>
          </a:prstGeom>
          <a:solidFill>
            <a:srgbClr val="FFF7C2"/>
          </a:solidFill>
          <a:ln w="25400">
            <a:solidFill>
              <a:srgbClr val="FCA829"/>
            </a:solidFill>
            <a:prstDash val="solid"/>
          </a:ln>
        </p:spPr>
      </p:sp>
      <p:sp>
        <p:nvSpPr>
          <p:cNvPr id="20" name="Text 18"/>
          <p:cNvSpPr txBox="1"/>
          <p:nvPr/>
        </p:nvSpPr>
        <p:spPr>
          <a:xfrm>
            <a:off x="8641080" y="4315968"/>
            <a:ext cx="2788920" cy="365760"/>
          </a:xfrm>
          <a:prstGeom prst="rect">
            <a:avLst/>
          </a:prstGeom>
          <a:noFill/>
          <a:ln/>
        </p:spPr>
        <p:txBody>
          <a:bodyPr wrap="square" lIns="0" tIns="0" rIns="0" bIns="0" rtlCol="0" anchor="ctr"/>
          <a:lstStyle/>
          <a:p>
            <a:pPr algn="ctr" indent="0" marL="0">
              <a:buNone/>
            </a:pPr>
            <a:r>
              <a:rPr lang="en-US" sz="1300" b="1" dirty="0">
                <a:solidFill>
                  <a:srgbClr val="093B5F"/>
                </a:solidFill>
                <a:latin typeface="Calibri" pitchFamily="34" charset="0"/>
                <a:ea typeface="Calibri" pitchFamily="34" charset="-122"/>
                <a:cs typeface="Calibri" pitchFamily="34" charset="-120"/>
              </a:rPr>
              <a:t>STACKIT — eu01</a:t>
            </a:r>
            <a:endParaRPr lang="en-US" sz="1300" dirty="0"/>
          </a:p>
        </p:txBody>
      </p:sp>
      <p:sp>
        <p:nvSpPr>
          <p:cNvPr id="21" name="Text 19"/>
          <p:cNvSpPr txBox="1"/>
          <p:nvPr/>
        </p:nvSpPr>
        <p:spPr>
          <a:xfrm>
            <a:off x="8641080" y="4681728"/>
            <a:ext cx="2788920" cy="329184"/>
          </a:xfrm>
          <a:prstGeom prst="rect">
            <a:avLst/>
          </a:prstGeom>
          <a:noFill/>
          <a:ln/>
        </p:spPr>
        <p:txBody>
          <a:bodyPr wrap="square" lIns="0" tIns="0" rIns="0" bIns="0" rtlCol="0" anchor="t"/>
          <a:lstStyle/>
          <a:p>
            <a:pPr algn="ctr" indent="0" marL="0">
              <a:lnSpc>
                <a:spcPct val="105000"/>
              </a:lnSpc>
              <a:buNone/>
            </a:pPr>
            <a:r>
              <a:rPr lang="en-US" sz="950" dirty="0">
                <a:solidFill>
                  <a:srgbClr val="3A3A3A"/>
                </a:solidFill>
                <a:latin typeface="Calibri" pitchFamily="34" charset="0"/>
                <a:ea typeface="Calibri" pitchFamily="34" charset="-122"/>
                <a:cs typeface="Calibri" pitchFamily="34" charset="-120"/>
              </a:rPr>
              <a:t>enewable/eu/pii/&gt;</a:t>
            </a:r>
            <a:endParaRPr lang="en-US" sz="950" dirty="0"/>
          </a:p>
          <a:p>
            <a:pPr algn="ctr" indent="0" marL="0">
              <a:lnSpc>
                <a:spcPct val="105000"/>
              </a:lnSpc>
              <a:buNone/>
            </a:pPr>
            <a:r>
              <a:rPr lang="en-US" sz="950" dirty="0">
                <a:solidFill>
                  <a:srgbClr val="3A3A3A"/>
                </a:solidFill>
                <a:latin typeface="Calibri" pitchFamily="34" charset="0"/>
                <a:ea typeface="Calibri" pitchFamily="34" charset="-122"/>
                <a:cs typeface="Calibri" pitchFamily="34" charset="-120"/>
              </a:rPr>
              <a:t>Duitsland, soeverein, dedicated DC</a:t>
            </a:r>
            <a:endParaRPr lang="en-US" sz="950" dirty="0"/>
          </a:p>
        </p:txBody>
      </p:sp>
      <p:sp>
        <p:nvSpPr>
          <p:cNvPr id="22" name="Shape 20"/>
          <p:cNvSpPr/>
          <p:nvPr/>
        </p:nvSpPr>
        <p:spPr>
          <a:xfrm flipV="1">
            <a:off x="3794760" y="2377440"/>
            <a:ext cx="4572000" cy="1325880"/>
          </a:xfrm>
          <a:prstGeom prst="line">
            <a:avLst/>
          </a:prstGeom>
          <a:noFill/>
          <a:ln w="34925">
            <a:solidFill>
              <a:srgbClr val="00C895"/>
            </a:solidFill>
            <a:prstDash val="solid"/>
            <a:tailEnd type="triangle"/>
          </a:ln>
        </p:spPr>
      </p:sp>
      <p:sp>
        <p:nvSpPr>
          <p:cNvPr id="23" name="Shape 21"/>
          <p:cNvSpPr/>
          <p:nvPr/>
        </p:nvSpPr>
        <p:spPr>
          <a:xfrm flipV="1">
            <a:off x="3794760" y="3520440"/>
            <a:ext cx="4572000" cy="182880"/>
          </a:xfrm>
          <a:prstGeom prst="line">
            <a:avLst/>
          </a:prstGeom>
          <a:noFill/>
          <a:ln w="34925">
            <a:solidFill>
              <a:srgbClr val="093B5F"/>
            </a:solidFill>
            <a:prstDash val="solid"/>
            <a:tailEnd type="triangle"/>
          </a:ln>
        </p:spPr>
      </p:sp>
      <p:sp>
        <p:nvSpPr>
          <p:cNvPr id="24" name="Shape 22"/>
          <p:cNvSpPr/>
          <p:nvPr/>
        </p:nvSpPr>
        <p:spPr>
          <a:xfrm>
            <a:off x="3794760" y="3703320"/>
            <a:ext cx="4572000" cy="960120"/>
          </a:xfrm>
          <a:prstGeom prst="line">
            <a:avLst/>
          </a:prstGeom>
          <a:noFill/>
          <a:ln w="34925">
            <a:solidFill>
              <a:srgbClr val="FCA829"/>
            </a:solidFill>
            <a:prstDash val="solid"/>
            <a:tailEnd type="triangle"/>
          </a:ln>
        </p:spPr>
      </p:sp>
      <p:sp>
        <p:nvSpPr>
          <p:cNvPr id="25" name="Text 23"/>
          <p:cNvSpPr txBox="1"/>
          <p:nvPr/>
        </p:nvSpPr>
        <p:spPr>
          <a:xfrm>
            <a:off x="3931920" y="2331720"/>
            <a:ext cx="4297680" cy="320040"/>
          </a:xfrm>
          <a:prstGeom prst="rect">
            <a:avLst/>
          </a:prstGeom>
          <a:noFill/>
          <a:ln/>
        </p:spPr>
        <p:txBody>
          <a:bodyPr wrap="square" lIns="0" tIns="0" rIns="0" bIns="0" rtlCol="0" anchor="ctr"/>
          <a:lstStyle/>
          <a:p>
            <a:pPr algn="ctr" indent="0" marL="0">
              <a:buNone/>
            </a:pPr>
            <a:r>
              <a:rPr lang="en-US" sz="1150" b="1" dirty="0">
                <a:solidFill>
                  <a:srgbClr val="093B5F"/>
                </a:solidFill>
                <a:latin typeface="Calibri" pitchFamily="34" charset="0"/>
                <a:ea typeface="Calibri" pitchFamily="34" charset="-122"/>
                <a:cs typeface="Calibri" pitchFamily="34" charset="-120"/>
              </a:rPr>
              <a:t>3 × queue + REST Delivery Point</a:t>
            </a:r>
            <a:endParaRPr lang="en-US" sz="1150" dirty="0"/>
          </a:p>
        </p:txBody>
      </p:sp>
      <p:sp>
        <p:nvSpPr>
          <p:cNvPr id="26" name="Text 24"/>
          <p:cNvSpPr txBox="1"/>
          <p:nvPr/>
        </p:nvSpPr>
        <p:spPr>
          <a:xfrm>
            <a:off x="640080" y="5715000"/>
            <a:ext cx="10972800" cy="365760"/>
          </a:xfrm>
          <a:prstGeom prst="rect">
            <a:avLst/>
          </a:prstGeom>
          <a:noFill/>
          <a:ln/>
        </p:spPr>
        <p:txBody>
          <a:bodyPr wrap="square" lIns="0" tIns="0" rIns="0" bIns="0" rtlCol="0" anchor="ctr"/>
          <a:lstStyle/>
          <a:p>
            <a:pPr indent="0" marL="0">
              <a:buNone/>
            </a:pPr>
            <a:r>
              <a:rPr lang="en-US" sz="1300" b="1" i="1" dirty="0">
                <a:solidFill>
                  <a:srgbClr val="093B5F"/>
                </a:solidFill>
                <a:latin typeface="Calibri" pitchFamily="34" charset="0"/>
                <a:ea typeface="Calibri" pitchFamily="34" charset="-122"/>
                <a:cs typeface="Calibri" pitchFamily="34" charset="-120"/>
              </a:rPr>
              <a:t>Eén topic bepaalt de bestemming — niet de tool, niet de discipline van de ontwikkelaar.</a:t>
            </a:r>
            <a:endParaRPr lang="en-US" sz="1300" dirty="0"/>
          </a:p>
        </p:txBody>
      </p:sp>
      <p:sp>
        <p:nvSpPr>
          <p:cNvPr id="27" name="Text 25"/>
          <p:cNvSpPr txBox="1"/>
          <p:nvPr/>
        </p:nvSpPr>
        <p:spPr>
          <a:xfrm>
            <a:off x="640080" y="6053328"/>
            <a:ext cx="10972800" cy="320040"/>
          </a:xfrm>
          <a:prstGeom prst="rect">
            <a:avLst/>
          </a:prstGeom>
          <a:noFill/>
          <a:ln/>
        </p:spPr>
        <p:txBody>
          <a:bodyPr wrap="square" lIns="0" tIns="0" rIns="0" bIns="0" rtlCol="0" anchor="ctr"/>
          <a:lstStyle/>
          <a:p>
            <a:pPr indent="0" marL="0">
              <a:buNone/>
            </a:pPr>
            <a:r>
              <a:rPr lang="en-US" sz="1050" dirty="0">
                <a:solidFill>
                  <a:srgbClr val="6A6A6A"/>
                </a:solidFill>
                <a:latin typeface="Calibri" pitchFamily="34" charset="0"/>
                <a:ea typeface="Calibri" pitchFamily="34" charset="-122"/>
                <a:cs typeface="Calibri" pitchFamily="34" charset="-120"/>
              </a:rPr>
              <a:t>Elke pijl = één queue + REST Delivery Point, die exact één topic-subtree 1-op-1 doorstuurt naar de bijbehorende cloud-broker.</a:t>
            </a:r>
            <a:endParaRPr lang="en-US" sz="1050" dirty="0"/>
          </a:p>
        </p:txBody>
      </p:sp>
      <p:sp>
        <p:nvSpPr>
          <p:cNvPr id="28" name="Text 26"/>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Topologie — zie docs/topologie.md</a:t>
            </a:r>
            <a:endParaRPr lang="en-US" sz="900" dirty="0"/>
          </a:p>
        </p:txBody>
      </p:sp>
      <p:sp>
        <p:nvSpPr>
          <p:cNvPr id="29" name="Text 27"/>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DADD 2026</a:t>
            </a:r>
            <a:endParaRPr lang="en-US" sz="900" dirty="0"/>
          </a:p>
        </p:txBody>
      </p:sp>
      <p:sp>
        <p:nvSpPr>
          <p:cNvPr id="30" name="Text 0"/>
          <p:cNvSpPr/>
          <p:nvPr>
            <p:ph idx="101" type="body" hasCustomPrompt="1"/>
          </p:nvPr>
        </p:nvSpPr>
        <p:spPr>
          <a:xfrm>
            <a:off x="548640" y="1234440"/>
            <a:ext cx="11064240" cy="5120640"/>
          </a:xfrm>
          <a:prstGeom prst="rect">
            <a:avLst/>
          </a:prstGeom>
          <a:noFill/>
          <a:ln/>
        </p:spPr>
        <p:txBody>
          <a:bodyPr wrap="square" rtlCol="0" anchor="t"/>
          <a:lstStyle/>
          <a:p>
            <a:pPr algn="l" indent="0" marL="0">
              <a:buNone/>
            </a:pP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t"/>
          <a:lstStyle/>
          <a:p>
            <a:pPr algn="l" indent="0" marL="0">
              <a:buNone/>
            </a:pPr>
            <a:r>
              <a:rPr lang="en-US" sz="2800" b="1" dirty="0">
                <a:solidFill>
                  <a:srgbClr val="093B5F"/>
                </a:solidFill>
                <a:latin typeface="Calibri" pitchFamily="34" charset="0"/>
                <a:ea typeface="Calibri" pitchFamily="34" charset="-122"/>
                <a:cs typeface="Calibri" pitchFamily="34" charset="-120"/>
              </a:rPr>
              <a:t>Van scratch naar draaiend: het bouwproces</a:t>
            </a:r>
            <a:endParaRPr lang="en-US" sz="2800" dirty="0"/>
          </a:p>
        </p:txBody>
      </p:sp>
      <p:sp>
        <p:nvSpPr>
          <p:cNvPr id="3" name="Shape 1"/>
          <p:cNvSpPr/>
          <p:nvPr/>
        </p:nvSpPr>
        <p:spPr>
          <a:xfrm>
            <a:off x="1383487" y="1828800"/>
            <a:ext cx="512064" cy="512064"/>
          </a:xfrm>
          <a:prstGeom prst="ellipse">
            <a:avLst/>
          </a:prstGeom>
          <a:solidFill>
            <a:srgbClr val="00C895"/>
          </a:solidFill>
          <a:ln/>
        </p:spPr>
      </p:sp>
      <p:sp>
        <p:nvSpPr>
          <p:cNvPr id="4" name="Text 2"/>
          <p:cNvSpPr txBox="1"/>
          <p:nvPr/>
        </p:nvSpPr>
        <p:spPr>
          <a:xfrm>
            <a:off x="1383487" y="18288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640080" y="2487168"/>
            <a:ext cx="1998878" cy="685800"/>
          </a:xfrm>
          <a:prstGeom prst="rect">
            <a:avLst/>
          </a:prstGeom>
          <a:noFill/>
          <a:ln/>
        </p:spPr>
        <p:txBody>
          <a:bodyPr wrap="square" lIns="0" tIns="0" rIns="0" bIns="0" rtlCol="0" anchor="t"/>
          <a:lstStyle/>
          <a:p>
            <a:pPr algn="ctr" indent="0" marL="0">
              <a:lnSpc>
                <a:spcPct val="105000"/>
              </a:lnSpc>
              <a:buNone/>
            </a:pPr>
            <a:r>
              <a:rPr lang="en-US" sz="1250" b="1" dirty="0">
                <a:solidFill>
                  <a:srgbClr val="093B5F"/>
                </a:solidFill>
                <a:latin typeface="Calibri" pitchFamily="34" charset="0"/>
                <a:ea typeface="Calibri" pitchFamily="34" charset="-122"/>
                <a:cs typeface="Calibri" pitchFamily="34" charset="-120"/>
              </a:rPr>
              <a:t>Cloud-brokers</a:t>
            </a:r>
            <a:endParaRPr lang="en-US" sz="1250" dirty="0"/>
          </a:p>
          <a:p>
            <a:pPr algn="ctr" indent="0" marL="0">
              <a:lnSpc>
                <a:spcPct val="105000"/>
              </a:lnSpc>
              <a:buNone/>
            </a:pPr>
            <a:r>
              <a:rPr lang="en-US" sz="1250" b="1" dirty="0">
                <a:solidFill>
                  <a:srgbClr val="093B5F"/>
                </a:solidFill>
                <a:latin typeface="Calibri" pitchFamily="34" charset="0"/>
                <a:ea typeface="Calibri" pitchFamily="34" charset="-122"/>
                <a:cs typeface="Calibri" pitchFamily="34" charset="-120"/>
              </a:rPr>
              <a:t>provisionen</a:t>
            </a:r>
            <a:endParaRPr lang="en-US" sz="1250" dirty="0"/>
          </a:p>
        </p:txBody>
      </p:sp>
      <p:sp>
        <p:nvSpPr>
          <p:cNvPr id="6" name="Text 4"/>
          <p:cNvSpPr txBox="1"/>
          <p:nvPr/>
        </p:nvSpPr>
        <p:spPr>
          <a:xfrm>
            <a:off x="640080" y="3127248"/>
            <a:ext cx="1998878" cy="1371600"/>
          </a:xfrm>
          <a:prstGeom prst="rect">
            <a:avLst/>
          </a:prstGeom>
          <a:noFill/>
          <a:ln/>
        </p:spPr>
        <p:txBody>
          <a:bodyPr wrap="square" lIns="0" tIns="0" rIns="0" bIns="0" rtlCol="0" anchor="t"/>
          <a:lstStyle/>
          <a:p>
            <a:pPr algn="ctr" indent="0" marL="0">
              <a:lnSpc>
                <a:spcPct val="110000"/>
              </a:lnSpc>
              <a:buNone/>
            </a:pPr>
            <a:r>
              <a:rPr lang="en-US" sz="1000" dirty="0">
                <a:solidFill>
                  <a:srgbClr val="4A4A4A"/>
                </a:solidFill>
                <a:latin typeface="Calibri" pitchFamily="34" charset="0"/>
                <a:ea typeface="Calibri" pitchFamily="34" charset="-122"/>
                <a:cs typeface="Calibri" pitchFamily="34" charset="-120"/>
              </a:rPr>
              <a:t>Terraform, 2 Solace Cloud org's: AWS, Azure en STACKIT (eigen, dedicated datacenter)</a:t>
            </a:r>
            <a:endParaRPr lang="en-US" sz="1000" dirty="0"/>
          </a:p>
        </p:txBody>
      </p:sp>
      <p:sp>
        <p:nvSpPr>
          <p:cNvPr id="7" name="Shape 5"/>
          <p:cNvSpPr/>
          <p:nvPr/>
        </p:nvSpPr>
        <p:spPr>
          <a:xfrm>
            <a:off x="2593238" y="2075688"/>
            <a:ext cx="320040" cy="0"/>
          </a:xfrm>
          <a:prstGeom prst="line">
            <a:avLst/>
          </a:prstGeom>
          <a:noFill/>
          <a:ln w="19050">
            <a:solidFill>
              <a:srgbClr val="D6D6D6"/>
            </a:solidFill>
            <a:prstDash val="solid"/>
            <a:tailEnd type="triangle"/>
          </a:ln>
        </p:spPr>
      </p:sp>
      <p:sp>
        <p:nvSpPr>
          <p:cNvPr id="8" name="Shape 6"/>
          <p:cNvSpPr/>
          <p:nvPr/>
        </p:nvSpPr>
        <p:spPr>
          <a:xfrm>
            <a:off x="3610966" y="1828800"/>
            <a:ext cx="512064" cy="512064"/>
          </a:xfrm>
          <a:prstGeom prst="ellipse">
            <a:avLst/>
          </a:prstGeom>
          <a:solidFill>
            <a:srgbClr val="00C895"/>
          </a:solidFill>
          <a:ln/>
        </p:spPr>
      </p:sp>
      <p:sp>
        <p:nvSpPr>
          <p:cNvPr id="9" name="Text 7"/>
          <p:cNvSpPr txBox="1"/>
          <p:nvPr/>
        </p:nvSpPr>
        <p:spPr>
          <a:xfrm>
            <a:off x="3610966" y="18288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2867558" y="2487168"/>
            <a:ext cx="1998878" cy="685800"/>
          </a:xfrm>
          <a:prstGeom prst="rect">
            <a:avLst/>
          </a:prstGeom>
          <a:noFill/>
          <a:ln/>
        </p:spPr>
        <p:txBody>
          <a:bodyPr wrap="square" lIns="0" tIns="0" rIns="0" bIns="0" rtlCol="0" anchor="t"/>
          <a:lstStyle/>
          <a:p>
            <a:pPr algn="ctr" indent="0" marL="0">
              <a:lnSpc>
                <a:spcPct val="105000"/>
              </a:lnSpc>
              <a:buNone/>
            </a:pPr>
            <a:r>
              <a:rPr lang="en-US" sz="1250" b="1" dirty="0">
                <a:solidFill>
                  <a:srgbClr val="093B5F"/>
                </a:solidFill>
                <a:latin typeface="Calibri" pitchFamily="34" charset="0"/>
                <a:ea typeface="Calibri" pitchFamily="34" charset="-122"/>
                <a:cs typeface="Calibri" pitchFamily="34" charset="-120"/>
              </a:rPr>
              <a:t>Lokale broker</a:t>
            </a:r>
            <a:endParaRPr lang="en-US" sz="1250" dirty="0"/>
          </a:p>
          <a:p>
            <a:pPr algn="ctr" indent="0" marL="0">
              <a:lnSpc>
                <a:spcPct val="105000"/>
              </a:lnSpc>
              <a:buNone/>
            </a:pPr>
            <a:r>
              <a:rPr lang="en-US" sz="1250" b="1" dirty="0">
                <a:solidFill>
                  <a:srgbClr val="093B5F"/>
                </a:solidFill>
                <a:latin typeface="Calibri" pitchFamily="34" charset="0"/>
                <a:ea typeface="Calibri" pitchFamily="34" charset="-122"/>
                <a:cs typeface="Calibri" pitchFamily="34" charset="-120"/>
              </a:rPr>
              <a:t>starten</a:t>
            </a:r>
            <a:endParaRPr lang="en-US" sz="1250" dirty="0"/>
          </a:p>
        </p:txBody>
      </p:sp>
      <p:sp>
        <p:nvSpPr>
          <p:cNvPr id="11" name="Text 9"/>
          <p:cNvSpPr txBox="1"/>
          <p:nvPr/>
        </p:nvSpPr>
        <p:spPr>
          <a:xfrm>
            <a:off x="2867558" y="3127248"/>
            <a:ext cx="1998878" cy="1371600"/>
          </a:xfrm>
          <a:prstGeom prst="rect">
            <a:avLst/>
          </a:prstGeom>
          <a:noFill/>
          <a:ln/>
        </p:spPr>
        <p:txBody>
          <a:bodyPr wrap="square" lIns="0" tIns="0" rIns="0" bIns="0" rtlCol="0" anchor="t"/>
          <a:lstStyle/>
          <a:p>
            <a:pPr algn="ctr" indent="0" marL="0">
              <a:lnSpc>
                <a:spcPct val="110000"/>
              </a:lnSpc>
              <a:buNone/>
            </a:pPr>
            <a:r>
              <a:rPr lang="en-US" sz="1000" dirty="0">
                <a:solidFill>
                  <a:srgbClr val="4A4A4A"/>
                </a:solidFill>
                <a:latin typeface="Calibri" pitchFamily="34" charset="0"/>
                <a:ea typeface="Calibri" pitchFamily="34" charset="-122"/>
                <a:cs typeface="Calibri" pitchFamily="34" charset="-120"/>
              </a:rPr>
              <a:t>Self-managed Solace PubSub+ in Docker, single-AZ, op de eigen laptop</a:t>
            </a:r>
            <a:endParaRPr lang="en-US" sz="1000" dirty="0"/>
          </a:p>
        </p:txBody>
      </p:sp>
      <p:sp>
        <p:nvSpPr>
          <p:cNvPr id="12" name="Shape 10"/>
          <p:cNvSpPr/>
          <p:nvPr/>
        </p:nvSpPr>
        <p:spPr>
          <a:xfrm>
            <a:off x="4820717" y="2075688"/>
            <a:ext cx="320040" cy="0"/>
          </a:xfrm>
          <a:prstGeom prst="line">
            <a:avLst/>
          </a:prstGeom>
          <a:noFill/>
          <a:ln w="19050">
            <a:solidFill>
              <a:srgbClr val="D6D6D6"/>
            </a:solidFill>
            <a:prstDash val="solid"/>
            <a:tailEnd type="triangle"/>
          </a:ln>
        </p:spPr>
      </p:sp>
      <p:sp>
        <p:nvSpPr>
          <p:cNvPr id="13" name="Shape 11"/>
          <p:cNvSpPr/>
          <p:nvPr/>
        </p:nvSpPr>
        <p:spPr>
          <a:xfrm>
            <a:off x="5838444" y="1828800"/>
            <a:ext cx="512064" cy="512064"/>
          </a:xfrm>
          <a:prstGeom prst="ellipse">
            <a:avLst/>
          </a:prstGeom>
          <a:solidFill>
            <a:srgbClr val="093B5F"/>
          </a:solidFill>
          <a:ln/>
        </p:spPr>
      </p:sp>
      <p:sp>
        <p:nvSpPr>
          <p:cNvPr id="14" name="Text 12"/>
          <p:cNvSpPr txBox="1"/>
          <p:nvPr/>
        </p:nvSpPr>
        <p:spPr>
          <a:xfrm>
            <a:off x="5838444" y="18288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5095037" y="2487168"/>
            <a:ext cx="1998878" cy="685800"/>
          </a:xfrm>
          <a:prstGeom prst="rect">
            <a:avLst/>
          </a:prstGeom>
          <a:noFill/>
          <a:ln/>
        </p:spPr>
        <p:txBody>
          <a:bodyPr wrap="square" lIns="0" tIns="0" rIns="0" bIns="0" rtlCol="0" anchor="t"/>
          <a:lstStyle/>
          <a:p>
            <a:pPr algn="ctr" indent="0" marL="0">
              <a:lnSpc>
                <a:spcPct val="105000"/>
              </a:lnSpc>
              <a:buNone/>
            </a:pPr>
            <a:r>
              <a:rPr lang="en-US" sz="1250" b="1" dirty="0">
                <a:solidFill>
                  <a:srgbClr val="093B5F"/>
                </a:solidFill>
                <a:latin typeface="Calibri" pitchFamily="34" charset="0"/>
                <a:ea typeface="Calibri" pitchFamily="34" charset="-122"/>
                <a:cs typeface="Calibri" pitchFamily="34" charset="-120"/>
              </a:rPr>
              <a:t>VPN + ACL's +</a:t>
            </a:r>
            <a:endParaRPr lang="en-US" sz="1250" dirty="0"/>
          </a:p>
          <a:p>
            <a:pPr algn="ctr" indent="0" marL="0">
              <a:lnSpc>
                <a:spcPct val="105000"/>
              </a:lnSpc>
              <a:buNone/>
            </a:pPr>
            <a:r>
              <a:rPr lang="en-US" sz="1250" b="1" dirty="0">
                <a:solidFill>
                  <a:srgbClr val="093B5F"/>
                </a:solidFill>
                <a:latin typeface="Calibri" pitchFamily="34" charset="0"/>
                <a:ea typeface="Calibri" pitchFamily="34" charset="-122"/>
                <a:cs typeface="Calibri" pitchFamily="34" charset="-120"/>
              </a:rPr>
              <a:t>scoped publishers</a:t>
            </a:r>
            <a:endParaRPr lang="en-US" sz="1250" dirty="0"/>
          </a:p>
        </p:txBody>
      </p:sp>
      <p:sp>
        <p:nvSpPr>
          <p:cNvPr id="16" name="Text 14"/>
          <p:cNvSpPr txBox="1"/>
          <p:nvPr/>
        </p:nvSpPr>
        <p:spPr>
          <a:xfrm>
            <a:off x="5095037" y="3127248"/>
            <a:ext cx="1998878" cy="1371600"/>
          </a:xfrm>
          <a:prstGeom prst="rect">
            <a:avLst/>
          </a:prstGeom>
          <a:noFill/>
          <a:ln/>
        </p:spPr>
        <p:txBody>
          <a:bodyPr wrap="square" lIns="0" tIns="0" rIns="0" bIns="0" rtlCol="0" anchor="t"/>
          <a:lstStyle/>
          <a:p>
            <a:pPr algn="ctr" indent="0" marL="0">
              <a:lnSpc>
                <a:spcPct val="110000"/>
              </a:lnSpc>
              <a:buNone/>
            </a:pPr>
            <a:r>
              <a:rPr lang="en-US" sz="1000" dirty="0">
                <a:solidFill>
                  <a:srgbClr val="4A4A4A"/>
                </a:solidFill>
                <a:latin typeface="Calibri" pitchFamily="34" charset="0"/>
                <a:ea typeface="Calibri" pitchFamily="34" charset="-122"/>
                <a:cs typeface="Calibri" pitchFamily="34" charset="-120"/>
              </a:rPr>
              <a:t>Governed sharing aán de bron: elke client-username mag maar één topic-subtree publiceren</a:t>
            </a:r>
            <a:endParaRPr lang="en-US" sz="1000" dirty="0"/>
          </a:p>
        </p:txBody>
      </p:sp>
      <p:sp>
        <p:nvSpPr>
          <p:cNvPr id="17" name="Shape 15"/>
          <p:cNvSpPr/>
          <p:nvPr/>
        </p:nvSpPr>
        <p:spPr>
          <a:xfrm>
            <a:off x="7048195" y="2075688"/>
            <a:ext cx="320040" cy="0"/>
          </a:xfrm>
          <a:prstGeom prst="line">
            <a:avLst/>
          </a:prstGeom>
          <a:noFill/>
          <a:ln w="19050">
            <a:solidFill>
              <a:srgbClr val="D6D6D6"/>
            </a:solidFill>
            <a:prstDash val="solid"/>
            <a:tailEnd type="triangle"/>
          </a:ln>
        </p:spPr>
      </p:sp>
      <p:sp>
        <p:nvSpPr>
          <p:cNvPr id="18" name="Shape 16"/>
          <p:cNvSpPr/>
          <p:nvPr/>
        </p:nvSpPr>
        <p:spPr>
          <a:xfrm>
            <a:off x="8065922" y="1828800"/>
            <a:ext cx="512064" cy="512064"/>
          </a:xfrm>
          <a:prstGeom prst="ellipse">
            <a:avLst/>
          </a:prstGeom>
          <a:solidFill>
            <a:srgbClr val="093B5F"/>
          </a:solidFill>
          <a:ln/>
        </p:spPr>
      </p:sp>
      <p:sp>
        <p:nvSpPr>
          <p:cNvPr id="19" name="Text 17"/>
          <p:cNvSpPr txBox="1"/>
          <p:nvPr/>
        </p:nvSpPr>
        <p:spPr>
          <a:xfrm>
            <a:off x="8065922" y="18288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7322515" y="2487168"/>
            <a:ext cx="1998878" cy="685800"/>
          </a:xfrm>
          <a:prstGeom prst="rect">
            <a:avLst/>
          </a:prstGeom>
          <a:noFill/>
          <a:ln/>
        </p:spPr>
        <p:txBody>
          <a:bodyPr wrap="square" lIns="0" tIns="0" rIns="0" bIns="0" rtlCol="0" anchor="t"/>
          <a:lstStyle/>
          <a:p>
            <a:pPr algn="ctr" indent="0" marL="0">
              <a:lnSpc>
                <a:spcPct val="105000"/>
              </a:lnSpc>
              <a:buNone/>
            </a:pPr>
            <a:r>
              <a:rPr lang="en-US" sz="1250" b="1" dirty="0">
                <a:solidFill>
                  <a:srgbClr val="093B5F"/>
                </a:solidFill>
                <a:latin typeface="Calibri" pitchFamily="34" charset="0"/>
                <a:ea typeface="Calibri" pitchFamily="34" charset="-122"/>
                <a:cs typeface="Calibri" pitchFamily="34" charset="-120"/>
              </a:rPr>
              <a:t>Queues + REST</a:t>
            </a:r>
            <a:endParaRPr lang="en-US" sz="1250" dirty="0"/>
          </a:p>
          <a:p>
            <a:pPr algn="ctr" indent="0" marL="0">
              <a:lnSpc>
                <a:spcPct val="105000"/>
              </a:lnSpc>
              <a:buNone/>
            </a:pPr>
            <a:r>
              <a:rPr lang="en-US" sz="1250" b="1" dirty="0">
                <a:solidFill>
                  <a:srgbClr val="093B5F"/>
                </a:solidFill>
                <a:latin typeface="Calibri" pitchFamily="34" charset="0"/>
                <a:ea typeface="Calibri" pitchFamily="34" charset="-122"/>
                <a:cs typeface="Calibri" pitchFamily="34" charset="-120"/>
              </a:rPr>
              <a:t>Delivery Points</a:t>
            </a:r>
            <a:endParaRPr lang="en-US" sz="1250" dirty="0"/>
          </a:p>
        </p:txBody>
      </p:sp>
      <p:sp>
        <p:nvSpPr>
          <p:cNvPr id="21" name="Text 19"/>
          <p:cNvSpPr txBox="1"/>
          <p:nvPr/>
        </p:nvSpPr>
        <p:spPr>
          <a:xfrm>
            <a:off x="7322515" y="3127248"/>
            <a:ext cx="1998878" cy="1371600"/>
          </a:xfrm>
          <a:prstGeom prst="rect">
            <a:avLst/>
          </a:prstGeom>
          <a:noFill/>
          <a:ln/>
        </p:spPr>
        <p:txBody>
          <a:bodyPr wrap="square" lIns="0" tIns="0" rIns="0" bIns="0" rtlCol="0" anchor="t"/>
          <a:lstStyle/>
          <a:p>
            <a:pPr algn="ctr" indent="0" marL="0">
              <a:lnSpc>
                <a:spcPct val="110000"/>
              </a:lnSpc>
              <a:buNone/>
            </a:pPr>
            <a:r>
              <a:rPr lang="en-US" sz="1000" dirty="0">
                <a:solidFill>
                  <a:srgbClr val="4A4A4A"/>
                </a:solidFill>
                <a:latin typeface="Calibri" pitchFamily="34" charset="0"/>
                <a:ea typeface="Calibri" pitchFamily="34" charset="-122"/>
                <a:cs typeface="Calibri" pitchFamily="34" charset="-120"/>
              </a:rPr>
              <a:t>Governed export aán de grens: elke queue/RDP exporteert exact één subtree naar de juiste cloud-broker</a:t>
            </a:r>
            <a:endParaRPr lang="en-US" sz="1000" dirty="0"/>
          </a:p>
        </p:txBody>
      </p:sp>
      <p:sp>
        <p:nvSpPr>
          <p:cNvPr id="22" name="Shape 20"/>
          <p:cNvSpPr/>
          <p:nvPr/>
        </p:nvSpPr>
        <p:spPr>
          <a:xfrm>
            <a:off x="9275674" y="2075688"/>
            <a:ext cx="320040" cy="0"/>
          </a:xfrm>
          <a:prstGeom prst="line">
            <a:avLst/>
          </a:prstGeom>
          <a:noFill/>
          <a:ln w="19050">
            <a:solidFill>
              <a:srgbClr val="D6D6D6"/>
            </a:solidFill>
            <a:prstDash val="solid"/>
            <a:tailEnd type="triangle"/>
          </a:ln>
        </p:spPr>
      </p:sp>
      <p:sp>
        <p:nvSpPr>
          <p:cNvPr id="23" name="Shape 21"/>
          <p:cNvSpPr/>
          <p:nvPr/>
        </p:nvSpPr>
        <p:spPr>
          <a:xfrm>
            <a:off x="10293401" y="1828800"/>
            <a:ext cx="512064" cy="512064"/>
          </a:xfrm>
          <a:prstGeom prst="ellipse">
            <a:avLst/>
          </a:prstGeom>
          <a:solidFill>
            <a:srgbClr val="FCA829"/>
          </a:solidFill>
          <a:ln/>
        </p:spPr>
      </p:sp>
      <p:sp>
        <p:nvSpPr>
          <p:cNvPr id="24" name="Text 22"/>
          <p:cNvSpPr txBox="1"/>
          <p:nvPr/>
        </p:nvSpPr>
        <p:spPr>
          <a:xfrm>
            <a:off x="10293401" y="18288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5" name="Text 23"/>
          <p:cNvSpPr txBox="1"/>
          <p:nvPr/>
        </p:nvSpPr>
        <p:spPr>
          <a:xfrm>
            <a:off x="9549994" y="2487168"/>
            <a:ext cx="1998878" cy="685800"/>
          </a:xfrm>
          <a:prstGeom prst="rect">
            <a:avLst/>
          </a:prstGeom>
          <a:noFill/>
          <a:ln/>
        </p:spPr>
        <p:txBody>
          <a:bodyPr wrap="square" lIns="0" tIns="0" rIns="0" bIns="0" rtlCol="0" anchor="t"/>
          <a:lstStyle/>
          <a:p>
            <a:pPr algn="ctr" indent="0" marL="0">
              <a:lnSpc>
                <a:spcPct val="105000"/>
              </a:lnSpc>
              <a:buNone/>
            </a:pPr>
            <a:r>
              <a:rPr lang="en-US" sz="1250" b="1" dirty="0">
                <a:solidFill>
                  <a:srgbClr val="093B5F"/>
                </a:solidFill>
                <a:latin typeface="Calibri" pitchFamily="34" charset="0"/>
                <a:ea typeface="Calibri" pitchFamily="34" charset="-122"/>
                <a:cs typeface="Calibri" pitchFamily="34" charset="-120"/>
              </a:rPr>
              <a:t>Demo-apps</a:t>
            </a:r>
            <a:endParaRPr lang="en-US" sz="1250" dirty="0"/>
          </a:p>
          <a:p>
            <a:pPr algn="ctr" indent="0" marL="0">
              <a:lnSpc>
                <a:spcPct val="105000"/>
              </a:lnSpc>
              <a:buNone/>
            </a:pPr>
            <a:r>
              <a:rPr lang="en-US" sz="1250" b="1" dirty="0">
                <a:solidFill>
                  <a:srgbClr val="093B5F"/>
                </a:solidFill>
                <a:latin typeface="Calibri" pitchFamily="34" charset="0"/>
                <a:ea typeface="Calibri" pitchFamily="34" charset="-122"/>
                <a:cs typeface="Calibri" pitchFamily="34" charset="-120"/>
              </a:rPr>
              <a:t>publiceren</a:t>
            </a:r>
            <a:endParaRPr lang="en-US" sz="1250" dirty="0"/>
          </a:p>
        </p:txBody>
      </p:sp>
      <p:sp>
        <p:nvSpPr>
          <p:cNvPr id="26" name="Text 24"/>
          <p:cNvSpPr txBox="1"/>
          <p:nvPr/>
        </p:nvSpPr>
        <p:spPr>
          <a:xfrm>
            <a:off x="9549994" y="3127248"/>
            <a:ext cx="1998878" cy="1371600"/>
          </a:xfrm>
          <a:prstGeom prst="rect">
            <a:avLst/>
          </a:prstGeom>
          <a:noFill/>
          <a:ln/>
        </p:spPr>
        <p:txBody>
          <a:bodyPr wrap="square" lIns="0" tIns="0" rIns="0" bIns="0" rtlCol="0" anchor="t"/>
          <a:lstStyle/>
          <a:p>
            <a:pPr algn="ctr" indent="0" marL="0">
              <a:lnSpc>
                <a:spcPct val="110000"/>
              </a:lnSpc>
              <a:buNone/>
            </a:pPr>
            <a:r>
              <a:rPr lang="en-US" sz="1000" dirty="0">
                <a:solidFill>
                  <a:srgbClr val="4A4A4A"/>
                </a:solidFill>
                <a:latin typeface="Calibri" pitchFamily="34" charset="0"/>
                <a:ea typeface="Calibri" pitchFamily="34" charset="-122"/>
                <a:cs typeface="Calibri" pitchFamily="34" charset="-120"/>
              </a:rPr>
              <a:t>stm / Python / SDKPerf — topic bepaalt automatisch de classificatie-routing</a:t>
            </a:r>
            <a:endParaRPr lang="en-US" sz="1000" dirty="0"/>
          </a:p>
        </p:txBody>
      </p:sp>
      <p:sp>
        <p:nvSpPr>
          <p:cNvPr id="27" name="Shape 25"/>
          <p:cNvSpPr/>
          <p:nvPr/>
        </p:nvSpPr>
        <p:spPr>
          <a:xfrm>
            <a:off x="640080" y="5394960"/>
            <a:ext cx="10908792" cy="685800"/>
          </a:xfrm>
          <a:prstGeom prst="roundRect">
            <a:avLst>
              <a:gd name="adj" fmla="val 13333"/>
            </a:avLst>
          </a:prstGeom>
          <a:solidFill>
            <a:srgbClr val="F4F4F4"/>
          </a:solidFill>
          <a:ln/>
        </p:spPr>
      </p:sp>
      <p:sp>
        <p:nvSpPr>
          <p:cNvPr id="28" name="Text 26"/>
          <p:cNvSpPr txBox="1"/>
          <p:nvPr/>
        </p:nvSpPr>
        <p:spPr>
          <a:xfrm>
            <a:off x="914400" y="5394960"/>
            <a:ext cx="10424160" cy="685800"/>
          </a:xfrm>
          <a:prstGeom prst="rect">
            <a:avLst/>
          </a:prstGeom>
          <a:noFill/>
          <a:ln/>
        </p:spPr>
        <p:txBody>
          <a:bodyPr wrap="square" lIns="0" tIns="0" rIns="0" bIns="0" rtlCol="0" anchor="ctr"/>
          <a:lstStyle/>
          <a:p>
            <a:pPr algn="l" indent="0" marL="0">
              <a:buNone/>
            </a:pPr>
            <a:r>
              <a:rPr lang="en-US" sz="1150" dirty="0">
                <a:solidFill>
                  <a:srgbClr val="093B5F"/>
                </a:solidFill>
                <a:latin typeface="Calibri" pitchFamily="34" charset="0"/>
                <a:ea typeface="Calibri" pitchFamily="34" charset="-122"/>
                <a:cs typeface="Calibri" pitchFamily="34" charset="-120"/>
              </a:rPr>
              <a:t>Idempotent bij elke stap: een container-restart of een hernieuwde run van de configuratiescripts verandert niets aan het resultaat — geen handmatige opschoning nodig.</a:t>
            </a:r>
            <a:endParaRPr lang="en-US" sz="1150" dirty="0"/>
          </a:p>
        </p:txBody>
      </p:sp>
      <p:sp>
        <p:nvSpPr>
          <p:cNvPr id="29" name="Text 27"/>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Binnen enkele minuten op te zetten voor een podium-demo</a:t>
            </a:r>
            <a:endParaRPr lang="en-US" sz="900" dirty="0"/>
          </a:p>
        </p:txBody>
      </p:sp>
      <p:sp>
        <p:nvSpPr>
          <p:cNvPr id="30" name="Text 28"/>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DADD 2026</a:t>
            </a:r>
            <a:endParaRPr lang="en-US" sz="900" dirty="0"/>
          </a:p>
        </p:txBody>
      </p:sp>
      <p:sp>
        <p:nvSpPr>
          <p:cNvPr id="31" name="Text 0"/>
          <p:cNvSpPr/>
          <p:nvPr>
            <p:ph idx="101" type="body" hasCustomPrompt="1"/>
          </p:nvPr>
        </p:nvSpPr>
        <p:spPr>
          <a:xfrm>
            <a:off x="548640" y="1234440"/>
            <a:ext cx="11064240" cy="5120640"/>
          </a:xfrm>
          <a:prstGeom prst="rect">
            <a:avLst/>
          </a:prstGeom>
          <a:noFill/>
          <a:ln/>
        </p:spPr>
        <p:txBody>
          <a:bodyPr wrap="square" rtlCol="0" anchor="t"/>
          <a:lstStyle/>
          <a:p>
            <a:pPr algn="l" indent="0" marL="0">
              <a:buNone/>
            </a:pP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t"/>
          <a:lstStyle/>
          <a:p>
            <a:pPr algn="l" indent="0" marL="0">
              <a:buNone/>
            </a:pPr>
            <a:r>
              <a:rPr lang="en-US" sz="2800" b="1" dirty="0">
                <a:solidFill>
                  <a:srgbClr val="093B5F"/>
                </a:solidFill>
                <a:latin typeface="Calibri" pitchFamily="34" charset="0"/>
                <a:ea typeface="Calibri" pitchFamily="34" charset="-122"/>
                <a:cs typeface="Calibri" pitchFamily="34" charset="-120"/>
              </a:rPr>
              <a:t>Architectuurkeuzes: governance op twee niveaus</a:t>
            </a:r>
            <a:endParaRPr lang="en-US" sz="2800" dirty="0"/>
          </a:p>
        </p:txBody>
      </p:sp>
      <p:sp>
        <p:nvSpPr>
          <p:cNvPr id="3" name="Shape 1"/>
          <p:cNvSpPr/>
          <p:nvPr/>
        </p:nvSpPr>
        <p:spPr>
          <a:xfrm>
            <a:off x="548640" y="1417320"/>
            <a:ext cx="5394960" cy="2286000"/>
          </a:xfrm>
          <a:prstGeom prst="roundRect">
            <a:avLst>
              <a:gd name="adj" fmla="val 4800"/>
            </a:avLst>
          </a:prstGeom>
          <a:solidFill>
            <a:srgbClr val="FFFFFF"/>
          </a:solidFill>
          <a:ln w="19050">
            <a:solidFill>
              <a:srgbClr val="00C895"/>
            </a:solidFill>
            <a:prstDash val="solid"/>
          </a:ln>
          <a:effectLst>
            <a:outerShdw sx="100000" sy="100000" kx="0" ky="0" algn="bl" rotWithShape="0" blurRad="76200" dist="25400" dir="5400000">
              <a:srgbClr val="1A1A1A">
                <a:alpha val="12000"/>
              </a:srgbClr>
            </a:outerShdw>
          </a:effectLst>
        </p:spPr>
      </p:sp>
      <p:sp>
        <p:nvSpPr>
          <p:cNvPr id="4" name="Shape 2"/>
          <p:cNvSpPr/>
          <p:nvPr/>
        </p:nvSpPr>
        <p:spPr>
          <a:xfrm>
            <a:off x="804672" y="1673352"/>
            <a:ext cx="384048" cy="384048"/>
          </a:xfrm>
          <a:prstGeom prst="ellipse">
            <a:avLst/>
          </a:prstGeom>
          <a:solidFill>
            <a:srgbClr val="00C895"/>
          </a:solidFill>
          <a:ln/>
        </p:spPr>
      </p:sp>
      <p:sp>
        <p:nvSpPr>
          <p:cNvPr id="5" name="Text 3"/>
          <p:cNvSpPr txBox="1"/>
          <p:nvPr/>
        </p:nvSpPr>
        <p:spPr>
          <a:xfrm>
            <a:off x="1325880" y="1618488"/>
            <a:ext cx="443484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1. Aan de bron</a:t>
            </a:r>
            <a:endParaRPr lang="en-US" sz="1500" dirty="0"/>
          </a:p>
        </p:txBody>
      </p:sp>
      <p:sp>
        <p:nvSpPr>
          <p:cNvPr id="6" name="Text 4"/>
          <p:cNvSpPr txBox="1"/>
          <p:nvPr/>
        </p:nvSpPr>
        <p:spPr>
          <a:xfrm>
            <a:off x="822960" y="2194560"/>
            <a:ext cx="4846320" cy="132588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Elke dataklasse publiceert via een eigen, dedicated client-username. Een ACL-profiel beperkt die identiteit tot exact één topic-subtree — “governed sharing” toegepast op de publicatiekant, niet een kwestie van vertrouwen of discipline.</a:t>
            </a:r>
            <a:endParaRPr lang="en-US" sz="1150" dirty="0"/>
          </a:p>
        </p:txBody>
      </p:sp>
      <p:sp>
        <p:nvSpPr>
          <p:cNvPr id="7" name="Shape 5"/>
          <p:cNvSpPr/>
          <p:nvPr/>
        </p:nvSpPr>
        <p:spPr>
          <a:xfrm>
            <a:off x="6217920" y="1417320"/>
            <a:ext cx="5394960" cy="2286000"/>
          </a:xfrm>
          <a:prstGeom prst="roundRect">
            <a:avLst>
              <a:gd name="adj" fmla="val 4800"/>
            </a:avLst>
          </a:prstGeom>
          <a:solidFill>
            <a:srgbClr val="FFFFFF"/>
          </a:solidFill>
          <a:ln w="19050">
            <a:solidFill>
              <a:srgbClr val="093B5F"/>
            </a:solidFill>
            <a:prstDash val="solid"/>
          </a:ln>
          <a:effectLst>
            <a:outerShdw sx="100000" sy="100000" kx="0" ky="0" algn="bl" rotWithShape="0" blurRad="76200" dist="25400" dir="5400000">
              <a:srgbClr val="1A1A1A">
                <a:alpha val="12000"/>
              </a:srgbClr>
            </a:outerShdw>
          </a:effectLst>
        </p:spPr>
      </p:sp>
      <p:sp>
        <p:nvSpPr>
          <p:cNvPr id="8" name="Shape 6"/>
          <p:cNvSpPr/>
          <p:nvPr/>
        </p:nvSpPr>
        <p:spPr>
          <a:xfrm>
            <a:off x="6473952" y="1673352"/>
            <a:ext cx="384048" cy="384048"/>
          </a:xfrm>
          <a:prstGeom prst="ellipse">
            <a:avLst/>
          </a:prstGeom>
          <a:solidFill>
            <a:srgbClr val="093B5F"/>
          </a:solidFill>
          <a:ln/>
        </p:spPr>
      </p:sp>
      <p:sp>
        <p:nvSpPr>
          <p:cNvPr id="9" name="Text 7"/>
          <p:cNvSpPr txBox="1"/>
          <p:nvPr/>
        </p:nvSpPr>
        <p:spPr>
          <a:xfrm>
            <a:off x="6995160" y="1618488"/>
            <a:ext cx="443484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2. Aan de grens</a:t>
            </a:r>
            <a:endParaRPr lang="en-US" sz="1500" dirty="0"/>
          </a:p>
        </p:txBody>
      </p:sp>
      <p:sp>
        <p:nvSpPr>
          <p:cNvPr id="10" name="Text 8"/>
          <p:cNvSpPr txBox="1"/>
          <p:nvPr/>
        </p:nvSpPr>
        <p:spPr>
          <a:xfrm>
            <a:off x="6492240" y="2194560"/>
            <a:ext cx="4846320" cy="132588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Een queue per subtree vangt berichten automatisch op (“message promotion”); een REST Delivery Point stuurt die queue één-op-één door naar precies de bijbehorende cloud-broker, op dezelfde topic. Data buiten zijn subtree kan een RDP niet verlaten.</a:t>
            </a:r>
            <a:endParaRPr lang="en-US" sz="1150" dirty="0"/>
          </a:p>
        </p:txBody>
      </p:sp>
      <p:sp>
        <p:nvSpPr>
          <p:cNvPr id="11" name="Shape 9"/>
          <p:cNvSpPr/>
          <p:nvPr/>
        </p:nvSpPr>
        <p:spPr>
          <a:xfrm>
            <a:off x="548640" y="3931920"/>
            <a:ext cx="5394960" cy="1920240"/>
          </a:xfrm>
          <a:prstGeom prst="roundRect">
            <a:avLst>
              <a:gd name="adj" fmla="val 5714"/>
            </a:avLst>
          </a:prstGeom>
          <a:solidFill>
            <a:srgbClr val="FFFFFF"/>
          </a:solidFill>
          <a:ln w="19050">
            <a:solidFill>
              <a:srgbClr val="FCA829"/>
            </a:solidFill>
            <a:prstDash val="solid"/>
          </a:ln>
          <a:effectLst>
            <a:outerShdw sx="100000" sy="100000" kx="0" ky="0" algn="bl" rotWithShape="0" blurRad="76200" dist="25400" dir="5400000">
              <a:srgbClr val="1A1A1A">
                <a:alpha val="12000"/>
              </a:srgbClr>
            </a:outerShdw>
          </a:effectLst>
        </p:spPr>
      </p:sp>
      <p:sp>
        <p:nvSpPr>
          <p:cNvPr id="12" name="Shape 10"/>
          <p:cNvSpPr/>
          <p:nvPr/>
        </p:nvSpPr>
        <p:spPr>
          <a:xfrm>
            <a:off x="804672" y="4187952"/>
            <a:ext cx="384048" cy="384048"/>
          </a:xfrm>
          <a:prstGeom prst="ellipse">
            <a:avLst/>
          </a:prstGeom>
          <a:solidFill>
            <a:srgbClr val="FCA829"/>
          </a:solidFill>
          <a:ln/>
        </p:spPr>
      </p:sp>
      <p:sp>
        <p:nvSpPr>
          <p:cNvPr id="13" name="Text 11"/>
          <p:cNvSpPr txBox="1"/>
          <p:nvPr/>
        </p:nvSpPr>
        <p:spPr>
          <a:xfrm>
            <a:off x="1325880" y="4133088"/>
            <a:ext cx="443484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Single-AZ lokaal, HA in de cloud</a:t>
            </a:r>
            <a:endParaRPr lang="en-US" sz="1500" dirty="0"/>
          </a:p>
        </p:txBody>
      </p:sp>
      <p:sp>
        <p:nvSpPr>
          <p:cNvPr id="14" name="Text 12"/>
          <p:cNvSpPr txBox="1"/>
          <p:nvPr/>
        </p:nvSpPr>
        <p:spPr>
          <a:xfrm>
            <a:off x="822960" y="4709160"/>
            <a:ext cx="4846320" cy="96012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De lokale bron-broker is bewust single-availability; alle 3 cloud-bestemmingen draaien op Solace Cloud. Een pragmatische keuze voor een podium-demo, geen aanbeveling voor productie.</a:t>
            </a:r>
            <a:endParaRPr lang="en-US" sz="1150" dirty="0"/>
          </a:p>
        </p:txBody>
      </p:sp>
      <p:sp>
        <p:nvSpPr>
          <p:cNvPr id="15" name="Shape 13"/>
          <p:cNvSpPr/>
          <p:nvPr/>
        </p:nvSpPr>
        <p:spPr>
          <a:xfrm>
            <a:off x="6217920" y="3931920"/>
            <a:ext cx="5394960" cy="1920240"/>
          </a:xfrm>
          <a:prstGeom prst="roundRect">
            <a:avLst>
              <a:gd name="adj" fmla="val 5714"/>
            </a:avLst>
          </a:prstGeom>
          <a:solidFill>
            <a:srgbClr val="FFFFFF"/>
          </a:solidFill>
          <a:ln w="19050">
            <a:solidFill>
              <a:srgbClr val="ABFF88"/>
            </a:solidFill>
            <a:prstDash val="solid"/>
          </a:ln>
          <a:effectLst>
            <a:outerShdw sx="100000" sy="100000" kx="0" ky="0" algn="bl" rotWithShape="0" blurRad="76200" dist="25400" dir="5400000">
              <a:srgbClr val="1A1A1A">
                <a:alpha val="12000"/>
              </a:srgbClr>
            </a:outerShdw>
          </a:effectLst>
        </p:spPr>
      </p:sp>
      <p:sp>
        <p:nvSpPr>
          <p:cNvPr id="16" name="Shape 14"/>
          <p:cNvSpPr/>
          <p:nvPr/>
        </p:nvSpPr>
        <p:spPr>
          <a:xfrm>
            <a:off x="6473952" y="4187952"/>
            <a:ext cx="384048" cy="384048"/>
          </a:xfrm>
          <a:prstGeom prst="ellipse">
            <a:avLst/>
          </a:prstGeom>
          <a:solidFill>
            <a:srgbClr val="ABFF88"/>
          </a:solidFill>
          <a:ln/>
        </p:spPr>
      </p:sp>
      <p:sp>
        <p:nvSpPr>
          <p:cNvPr id="17" name="Text 15"/>
          <p:cNvSpPr txBox="1"/>
          <p:nvPr/>
        </p:nvSpPr>
        <p:spPr>
          <a:xfrm>
            <a:off x="6995160" y="4133088"/>
            <a:ext cx="443484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STACKIT: eigen, soeverein datacenter</a:t>
            </a:r>
            <a:endParaRPr lang="en-US" sz="1500" dirty="0"/>
          </a:p>
        </p:txBody>
      </p:sp>
      <p:sp>
        <p:nvSpPr>
          <p:cNvPr id="18" name="Text 16"/>
          <p:cNvSpPr txBox="1"/>
          <p:nvPr/>
        </p:nvSpPr>
        <p:spPr>
          <a:xfrm>
            <a:off x="6492240" y="4709160"/>
            <a:ext cx="4846320" cy="96012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Geen interim-oplossing meer nodig — STACKIT eu01 is een eigen, echte dedicated Solace Cloud-datacenter: zelfde topics en ACL's als AWS/Azure, alleen het fysieke eindpunt is Europees en niet-hyperscaler.</a:t>
            </a:r>
            <a:endParaRPr lang="en-US" sz="1150" dirty="0"/>
          </a:p>
        </p:txBody>
      </p:sp>
      <p:sp>
        <p:nvSpPr>
          <p:cNvPr id="19" name="Text 17"/>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Architectuurkeuzes en aannames — zie PLAN.md sectie 4</a:t>
            </a:r>
            <a:endParaRPr lang="en-US" sz="900" dirty="0"/>
          </a:p>
        </p:txBody>
      </p:sp>
      <p:sp>
        <p:nvSpPr>
          <p:cNvPr id="20" name="Text 18"/>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DADD 2026</a:t>
            </a:r>
            <a:endParaRPr lang="en-US" sz="900" dirty="0"/>
          </a:p>
        </p:txBody>
      </p:sp>
      <p:sp>
        <p:nvSpPr>
          <p:cNvPr id="21" name="Text 0"/>
          <p:cNvSpPr/>
          <p:nvPr>
            <p:ph idx="101" type="body" hasCustomPrompt="1"/>
          </p:nvPr>
        </p:nvSpPr>
        <p:spPr>
          <a:xfrm>
            <a:off x="548640" y="1234440"/>
            <a:ext cx="11064240" cy="5120640"/>
          </a:xfrm>
          <a:prstGeom prst="rect">
            <a:avLst/>
          </a:prstGeom>
          <a:noFill/>
          <a:ln/>
        </p:spPr>
        <p:txBody>
          <a:bodyPr wrap="square" rtlCol="0" anchor="t"/>
          <a:lstStyle/>
          <a:p>
            <a:pPr algn="l" indent="0" marL="0">
              <a:buNone/>
            </a:pP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914400"/>
          </a:xfrm>
          <a:prstGeom prst="rect">
            <a:avLst/>
          </a:prstGeom>
          <a:noFill/>
          <a:ln/>
        </p:spPr>
        <p:txBody>
          <a:bodyPr wrap="square"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Twee dingen die hardop gezegd moeten worden</a:t>
            </a:r>
            <a:endParaRPr lang="en-US" sz="3000" dirty="0"/>
          </a:p>
        </p:txBody>
      </p:sp>
      <p:sp>
        <p:nvSpPr>
          <p:cNvPr id="3" name="Shape 1"/>
          <p:cNvSpPr/>
          <p:nvPr/>
        </p:nvSpPr>
        <p:spPr>
          <a:xfrm>
            <a:off x="731520" y="1600200"/>
            <a:ext cx="10698480" cy="2103120"/>
          </a:xfrm>
          <a:prstGeom prst="roundRect">
            <a:avLst>
              <a:gd name="adj" fmla="val 5217"/>
            </a:avLst>
          </a:prstGeom>
          <a:solidFill>
            <a:srgbClr val="093B5F"/>
          </a:solidFill>
          <a:ln w="19050">
            <a:solidFill>
              <a:srgbClr val="00C895"/>
            </a:solidFill>
            <a:prstDash val="solid"/>
          </a:ln>
        </p:spPr>
      </p:sp>
      <p:sp>
        <p:nvSpPr>
          <p:cNvPr id="4" name="Text 2"/>
          <p:cNvSpPr txBox="1"/>
          <p:nvPr/>
        </p:nvSpPr>
        <p:spPr>
          <a:xfrm>
            <a:off x="1005840" y="1801368"/>
            <a:ext cx="10149840" cy="1700784"/>
          </a:xfrm>
          <a:prstGeom prst="rect">
            <a:avLst/>
          </a:prstGeom>
          <a:noFill/>
          <a:ln/>
        </p:spPr>
        <p:txBody>
          <a:bodyPr wrap="square" lIns="0" tIns="0" rIns="0" bIns="0" rtlCol="0" anchor="t"/>
          <a:lstStyle/>
          <a:p>
            <a:pPr algn="l" indent="0" marL="0">
              <a:lnSpc>
                <a:spcPct val="125000"/>
              </a:lnSpc>
              <a:buNone/>
            </a:pPr>
            <a:r>
              <a:rPr lang="en-US" sz="1300" b="1" dirty="0">
                <a:solidFill>
                  <a:srgbClr val="00C895"/>
                </a:solidFill>
                <a:latin typeface="Calibri" pitchFamily="34" charset="0"/>
                <a:ea typeface="Calibri" pitchFamily="34" charset="-122"/>
                <a:cs typeface="Calibri" pitchFamily="34" charset="-120"/>
              </a:rPr>
              <a:t>1.  Azure staat fysiek in de EU — maar is organisatorisch een Amerikaanse hyperscaler.</a:t>
            </a:r>
            <a:endParaRPr lang="en-US" sz="1300" dirty="0"/>
          </a:p>
          <a:p>
            <a:pPr algn="l" indent="0" marL="0">
              <a:lnSpc>
                <a:spcPct val="125000"/>
              </a:lnSpc>
              <a:buNone/>
            </a:pPr>
            <a:r>
              <a:rPr lang="en-US" sz="1300" dirty="0">
                <a:solidFill>
                  <a:srgbClr val="FFFFFF"/>
                </a:solidFill>
                <a:latin typeface="Calibri" pitchFamily="34" charset="0"/>
                <a:ea typeface="Calibri" pitchFamily="34" charset="-122"/>
                <a:cs typeface="Calibri" pitchFamily="34" charset="-120"/>
              </a:rPr>
              <a:t>Microsoft blijft onderhevig aan de CLOUD Act. Wie dit niet benoemt, laat het publiek de (onjuiste) conclusie trekken dat “data in de EU” vanzelf hetzelfde is als “soeverein”. Het punt van de demo: classificatie — niet locatie — bepaalt welke broker een gegeven mag bereiken.</a:t>
            </a:r>
            <a:endParaRPr lang="en-US" sz="1300" dirty="0"/>
          </a:p>
        </p:txBody>
      </p:sp>
      <p:sp>
        <p:nvSpPr>
          <p:cNvPr id="5" name="Shape 3"/>
          <p:cNvSpPr/>
          <p:nvPr/>
        </p:nvSpPr>
        <p:spPr>
          <a:xfrm>
            <a:off x="731520" y="3977640"/>
            <a:ext cx="10698480" cy="2103120"/>
          </a:xfrm>
          <a:prstGeom prst="roundRect">
            <a:avLst>
              <a:gd name="adj" fmla="val 5217"/>
            </a:avLst>
          </a:prstGeom>
          <a:solidFill>
            <a:srgbClr val="093B5F"/>
          </a:solidFill>
          <a:ln w="19050">
            <a:solidFill>
              <a:srgbClr val="FCA829"/>
            </a:solidFill>
            <a:prstDash val="solid"/>
          </a:ln>
        </p:spPr>
      </p:sp>
      <p:sp>
        <p:nvSpPr>
          <p:cNvPr id="6" name="Text 4"/>
          <p:cNvSpPr txBox="1"/>
          <p:nvPr/>
        </p:nvSpPr>
        <p:spPr>
          <a:xfrm>
            <a:off x="1005840" y="4178808"/>
            <a:ext cx="10149840" cy="1700784"/>
          </a:xfrm>
          <a:prstGeom prst="rect">
            <a:avLst/>
          </a:prstGeom>
          <a:noFill/>
          <a:ln/>
        </p:spPr>
        <p:txBody>
          <a:bodyPr wrap="square" lIns="0" tIns="0" rIns="0" bIns="0" rtlCol="0" anchor="t"/>
          <a:lstStyle/>
          <a:p>
            <a:pPr algn="l" indent="0" marL="0">
              <a:lnSpc>
                <a:spcPct val="125000"/>
              </a:lnSpc>
              <a:buNone/>
            </a:pPr>
            <a:r>
              <a:rPr lang="en-US" sz="1300" b="1" dirty="0">
                <a:solidFill>
                  <a:srgbClr val="FCA829"/>
                </a:solidFill>
                <a:latin typeface="Calibri" pitchFamily="34" charset="0"/>
                <a:ea typeface="Calibri" pitchFamily="34" charset="-122"/>
                <a:cs typeface="Calibri" pitchFamily="34" charset="-120"/>
              </a:rPr>
              <a:t>2.  De cloud-broker-services draaien in public clusters — niet private/VPC-gepeerd.</a:t>
            </a:r>
            <a:endParaRPr lang="en-US" sz="1300" dirty="0"/>
          </a:p>
          <a:p>
            <a:pPr algn="l" indent="0" marL="0">
              <a:lnSpc>
                <a:spcPct val="125000"/>
              </a:lnSpc>
              <a:buNone/>
            </a:pPr>
            <a:r>
              <a:rPr lang="en-US" sz="1300" dirty="0">
                <a:solidFill>
                  <a:srgbClr val="FFFFFF"/>
                </a:solidFill>
                <a:latin typeface="Calibri" pitchFamily="34" charset="0"/>
                <a:ea typeface="Calibri" pitchFamily="34" charset="-122"/>
                <a:cs typeface="Calibri" pitchFamily="34" charset="-120"/>
              </a:rPr>
              <a:t>Bewuste vereenvoudiging om de demo snel en overal op te zetten (ook vanaf conferentiewifi) — geen VPN's, geen peering-overhead. In een echte productie-inrichting zou dit typisch wel privaat/gepeerd zijn. Benoem dit expliciet, zodat het publiek het niet aanziet voor de aanbevolen praktijk.</a:t>
            </a:r>
            <a:endParaRPr lang="en-US" sz="1300" dirty="0"/>
          </a:p>
        </p:txBody>
      </p:sp>
      <p:sp>
        <p:nvSpPr>
          <p:cNvPr id="7" name="Text 5"/>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C2F7FF"/>
                </a:solidFill>
                <a:latin typeface="Calibri" pitchFamily="34" charset="0"/>
                <a:ea typeface="Calibri" pitchFamily="34" charset="-122"/>
                <a:cs typeface="Calibri" pitchFamily="34" charset="-120"/>
              </a:rPr>
              <a:t>Zie docs/demo-notes.md</a:t>
            </a:r>
            <a:endParaRPr lang="en-US" sz="900" dirty="0"/>
          </a:p>
        </p:txBody>
      </p:sp>
      <p:sp>
        <p:nvSpPr>
          <p:cNvPr id="8" name="Text 6"/>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C2F7FF"/>
                </a:solidFill>
                <a:latin typeface="Calibri" pitchFamily="34" charset="0"/>
                <a:ea typeface="Calibri" pitchFamily="34" charset="-122"/>
                <a:cs typeface="Calibri" pitchFamily="34" charset="-120"/>
              </a:rPr>
              <a:t>DADD 2026</a:t>
            </a:r>
            <a:endParaRPr lang="en-US" sz="900" dirty="0"/>
          </a:p>
        </p:txBody>
      </p:sp>
      <p:sp>
        <p:nvSpPr>
          <p:cNvPr id="9" name="Text 0"/>
          <p:cNvSpPr/>
          <p:nvPr>
            <p:ph idx="101" type="body" hasCustomPrompt="1"/>
          </p:nvPr>
        </p:nvSpPr>
        <p:spPr>
          <a:xfrm>
            <a:off x="731520" y="1508760"/>
            <a:ext cx="10698480" cy="4480560"/>
          </a:xfrm>
          <a:prstGeom prst="rect">
            <a:avLst/>
          </a:prstGeom>
          <a:noFill/>
          <a:ln/>
        </p:spPr>
        <p:txBody>
          <a:bodyPr wrap="square" rtlCol="0" anchor="t"/>
          <a:lstStyle/>
          <a:p>
            <a:pPr algn="l" indent="0" marL="0">
              <a:buNone/>
            </a:pP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t"/>
          <a:lstStyle/>
          <a:p>
            <a:pPr algn="l" indent="0" marL="0">
              <a:buNone/>
            </a:pPr>
            <a:r>
              <a:rPr lang="en-US" sz="2800" b="1" dirty="0">
                <a:solidFill>
                  <a:srgbClr val="093B5F"/>
                </a:solidFill>
                <a:latin typeface="Calibri" pitchFamily="34" charset="0"/>
                <a:ea typeface="Calibri" pitchFamily="34" charset="-122"/>
                <a:cs typeface="Calibri" pitchFamily="34" charset="-120"/>
              </a:rPr>
              <a:t>Live bewijs: alleen AWS ontvangt publiek</a:t>
            </a:r>
            <a:endParaRPr lang="en-US" sz="2800" dirty="0"/>
          </a:p>
        </p:txBody>
      </p:sp>
      <p:pic>
        <p:nvPicPr>
          <p:cNvPr id="3" name="Image 0" descr="/tmp/claude-0/-home-claude/53d1957b-c130-5537-9581-24f9dd54b40e/scratchpad/pptx-build/assets/aws_evidence.png">    </p:cNvPr>
          <p:cNvPicPr>
            <a:picLocks noChangeAspect="1"/>
          </p:cNvPicPr>
          <p:nvPr/>
        </p:nvPicPr>
        <p:blipFill>
          <a:blip r:embed="rId1"/>
          <a:stretch>
            <a:fillRect/>
          </a:stretch>
        </p:blipFill>
        <p:spPr>
          <a:xfrm>
            <a:off x="640080" y="1463040"/>
            <a:ext cx="6035040" cy="4508022"/>
          </a:xfrm>
          <a:prstGeom prst="rect">
            <a:avLst/>
          </a:prstGeom>
        </p:spPr>
      </p:pic>
      <p:sp>
        <p:nvSpPr>
          <p:cNvPr id="4" name="Shape 1"/>
          <p:cNvSpPr/>
          <p:nvPr/>
        </p:nvSpPr>
        <p:spPr>
          <a:xfrm>
            <a:off x="640080" y="1463040"/>
            <a:ext cx="6035040" cy="4508022"/>
          </a:xfrm>
          <a:prstGeom prst="rect">
            <a:avLst/>
          </a:prstGeom>
          <a:ln w="25400">
            <a:solidFill>
              <a:srgbClr val="00C895"/>
            </a:solidFill>
            <a:prstDash val="solid"/>
          </a:ln>
        </p:spPr>
      </p:sp>
      <p:sp>
        <p:nvSpPr>
          <p:cNvPr id="5" name="Text 2"/>
          <p:cNvSpPr txBox="1"/>
          <p:nvPr/>
        </p:nvSpPr>
        <p:spPr>
          <a:xfrm>
            <a:off x="640080" y="6062502"/>
            <a:ext cx="6035040" cy="274320"/>
          </a:xfrm>
          <a:prstGeom prst="rect">
            <a:avLst/>
          </a:prstGeom>
          <a:noFill/>
          <a:ln/>
        </p:spPr>
        <p:txBody>
          <a:bodyPr wrap="square" lIns="0" tIns="0" rIns="0" bIns="0" rtlCol="0" anchor="ctr"/>
          <a:lstStyle/>
          <a:p>
            <a:pPr indent="0" marL="0">
              <a:buNone/>
            </a:pPr>
            <a:r>
              <a:rPr lang="en-US" sz="950" i="1" dirty="0">
                <a:solidFill>
                  <a:srgbClr val="8A8A8A"/>
                </a:solidFill>
                <a:latin typeface="Calibri" pitchFamily="34" charset="0"/>
                <a:ea typeface="Calibri" pitchFamily="34" charset="-122"/>
                <a:cs typeface="Calibri" pitchFamily="34" charset="-120"/>
              </a:rPr>
              <a:t>"Try Me!" — AWS, VPN enewable</a:t>
            </a:r>
            <a:endParaRPr lang="en-US" sz="950" dirty="0"/>
          </a:p>
        </p:txBody>
      </p:sp>
      <p:sp>
        <p:nvSpPr>
          <p:cNvPr id="6" name="Shape 3"/>
          <p:cNvSpPr/>
          <p:nvPr/>
        </p:nvSpPr>
        <p:spPr>
          <a:xfrm>
            <a:off x="7040880" y="1463040"/>
            <a:ext cx="4572000" cy="2057400"/>
          </a:xfrm>
          <a:prstGeom prst="roundRect">
            <a:avLst>
              <a:gd name="adj" fmla="val 5333"/>
            </a:avLst>
          </a:prstGeom>
          <a:solidFill>
            <a:srgbClr val="FFFFFF"/>
          </a:solidFill>
          <a:ln w="19050">
            <a:solidFill>
              <a:srgbClr val="00C895"/>
            </a:solidFill>
            <a:prstDash val="solid"/>
          </a:ln>
          <a:effectLst>
            <a:outerShdw sx="100000" sy="100000" kx="0" ky="0" algn="bl" rotWithShape="0" blurRad="76200" dist="25400" dir="5400000">
              <a:srgbClr val="1A1A1A">
                <a:alpha val="12000"/>
              </a:srgbClr>
            </a:outerShdw>
          </a:effectLst>
        </p:spPr>
      </p:sp>
      <p:sp>
        <p:nvSpPr>
          <p:cNvPr id="7" name="Shape 4"/>
          <p:cNvSpPr/>
          <p:nvPr/>
        </p:nvSpPr>
        <p:spPr>
          <a:xfrm>
            <a:off x="7296912" y="1719072"/>
            <a:ext cx="384048" cy="384048"/>
          </a:xfrm>
          <a:prstGeom prst="ellipse">
            <a:avLst/>
          </a:prstGeom>
          <a:solidFill>
            <a:srgbClr val="00C895"/>
          </a:solidFill>
          <a:ln/>
        </p:spPr>
      </p:sp>
      <p:sp>
        <p:nvSpPr>
          <p:cNvPr id="8" name="Text 5"/>
          <p:cNvSpPr txBox="1"/>
          <p:nvPr/>
        </p:nvSpPr>
        <p:spPr>
          <a:xfrm>
            <a:off x="7818120" y="1664208"/>
            <a:ext cx="361188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Wat je ziet</a:t>
            </a:r>
            <a:endParaRPr lang="en-US" sz="1500" dirty="0"/>
          </a:p>
        </p:txBody>
      </p:sp>
      <p:sp>
        <p:nvSpPr>
          <p:cNvPr id="9" name="Text 6"/>
          <p:cNvSpPr txBox="1"/>
          <p:nvPr/>
        </p:nvSpPr>
        <p:spPr>
          <a:xfrm>
            <a:off x="7315200" y="2240280"/>
            <a:ext cx="4023360" cy="109728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Een bericht op topic enewable/public/market/price/… komt binnen op de “Try Me!”-tab van AWS, met het veld "classification": "public" — precies de klasse die bij deze bestemming hoort.</a:t>
            </a:r>
            <a:endParaRPr lang="en-US" sz="1150" dirty="0"/>
          </a:p>
        </p:txBody>
      </p:sp>
      <p:sp>
        <p:nvSpPr>
          <p:cNvPr id="10" name="Shape 7"/>
          <p:cNvSpPr/>
          <p:nvPr/>
        </p:nvSpPr>
        <p:spPr>
          <a:xfrm>
            <a:off x="7040880" y="3703320"/>
            <a:ext cx="4572000" cy="2057400"/>
          </a:xfrm>
          <a:prstGeom prst="roundRect">
            <a:avLst>
              <a:gd name="adj" fmla="val 5333"/>
            </a:avLst>
          </a:prstGeom>
          <a:solidFill>
            <a:srgbClr val="FFFFFF"/>
          </a:solidFill>
          <a:ln w="19050">
            <a:solidFill>
              <a:srgbClr val="D6D6D6"/>
            </a:solidFill>
            <a:prstDash val="solid"/>
          </a:ln>
          <a:effectLst>
            <a:outerShdw sx="100000" sy="100000" kx="0" ky="0" algn="bl" rotWithShape="0" blurRad="76200" dist="25400" dir="5400000">
              <a:srgbClr val="1A1A1A">
                <a:alpha val="12000"/>
              </a:srgbClr>
            </a:outerShdw>
          </a:effectLst>
        </p:spPr>
      </p:sp>
      <p:sp>
        <p:nvSpPr>
          <p:cNvPr id="11" name="Shape 8"/>
          <p:cNvSpPr/>
          <p:nvPr/>
        </p:nvSpPr>
        <p:spPr>
          <a:xfrm>
            <a:off x="7296912" y="3959352"/>
            <a:ext cx="384048" cy="384048"/>
          </a:xfrm>
          <a:prstGeom prst="ellipse">
            <a:avLst/>
          </a:prstGeom>
          <a:solidFill>
            <a:srgbClr val="D6D6D6"/>
          </a:solidFill>
          <a:ln/>
        </p:spPr>
      </p:sp>
      <p:sp>
        <p:nvSpPr>
          <p:cNvPr id="12" name="Text 9"/>
          <p:cNvSpPr txBox="1"/>
          <p:nvPr/>
        </p:nvSpPr>
        <p:spPr>
          <a:xfrm>
            <a:off x="7818120" y="3904488"/>
            <a:ext cx="361188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Wat je NIET ziet</a:t>
            </a:r>
            <a:endParaRPr lang="en-US" sz="1500" dirty="0"/>
          </a:p>
        </p:txBody>
      </p:sp>
      <p:sp>
        <p:nvSpPr>
          <p:cNvPr id="13" name="Text 10"/>
          <p:cNvSpPr txBox="1"/>
          <p:nvPr/>
        </p:nvSpPr>
        <p:spPr>
          <a:xfrm>
            <a:off x="7315200" y="4480560"/>
            <a:ext cx="4023360" cy="109728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Dit bericht verschijnt op geen enkel moment op Azure of STACKIT — de ACL aan de bron en de queue/RDP-scope aan de grens sluiten dat architecturaal uit, niet toevallig.</a:t>
            </a:r>
            <a:endParaRPr lang="en-US" sz="1150" dirty="0"/>
          </a:p>
        </p:txBody>
      </p:sp>
      <p:sp>
        <p:nvSpPr>
          <p:cNvPr id="14" name="Text 11"/>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Testronde fase 5 — 02/10/2026, PLAN.md sectie 13 punt 48</a:t>
            </a:r>
            <a:endParaRPr lang="en-US" sz="900" dirty="0"/>
          </a:p>
        </p:txBody>
      </p:sp>
      <p:sp>
        <p:nvSpPr>
          <p:cNvPr id="15" name="Text 12"/>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DADD 2026</a:t>
            </a:r>
            <a:endParaRPr lang="en-US" sz="900" dirty="0"/>
          </a:p>
        </p:txBody>
      </p:sp>
      <p:sp>
        <p:nvSpPr>
          <p:cNvPr id="16" name="Text 0"/>
          <p:cNvSpPr/>
          <p:nvPr>
            <p:ph idx="101" type="body" hasCustomPrompt="1"/>
          </p:nvPr>
        </p:nvSpPr>
        <p:spPr>
          <a:xfrm>
            <a:off x="548640" y="1234440"/>
            <a:ext cx="11064240" cy="5120640"/>
          </a:xfrm>
          <a:prstGeom prst="rect">
            <a:avLst/>
          </a:prstGeom>
          <a:noFill/>
          <a:ln/>
        </p:spPr>
        <p:txBody>
          <a:bodyPr wrap="square" rtlCol="0" anchor="t"/>
          <a:lstStyle/>
          <a:p>
            <a:pPr algn="l" indent="0" marL="0">
              <a:buNone/>
            </a:pP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t"/>
          <a:lstStyle/>
          <a:p>
            <a:pPr algn="l" indent="0" marL="0">
              <a:buNone/>
            </a:pPr>
            <a:r>
              <a:rPr lang="en-US" sz="2800" b="1" dirty="0">
                <a:solidFill>
                  <a:srgbClr val="093B5F"/>
                </a:solidFill>
                <a:latin typeface="Calibri" pitchFamily="34" charset="0"/>
                <a:ea typeface="Calibri" pitchFamily="34" charset="-122"/>
                <a:cs typeface="Calibri" pitchFamily="34" charset="-120"/>
              </a:rPr>
              <a:t>Live bewijs: alleen Azure ontvangt niet-persoonlijk eu</a:t>
            </a:r>
            <a:endParaRPr lang="en-US" sz="2800" dirty="0"/>
          </a:p>
        </p:txBody>
      </p:sp>
      <p:pic>
        <p:nvPicPr>
          <p:cNvPr id="3" name="Image 0" descr="/tmp/claude-0/-home-claude/53d1957b-c130-5537-9581-24f9dd54b40e/scratchpad/pptx-build/assets/azure_evidence.png">    </p:cNvPr>
          <p:cNvPicPr>
            <a:picLocks noChangeAspect="1"/>
          </p:cNvPicPr>
          <p:nvPr/>
        </p:nvPicPr>
        <p:blipFill>
          <a:blip r:embed="rId1"/>
          <a:stretch>
            <a:fillRect/>
          </a:stretch>
        </p:blipFill>
        <p:spPr>
          <a:xfrm>
            <a:off x="640080" y="1463040"/>
            <a:ext cx="6035040" cy="4508022"/>
          </a:xfrm>
          <a:prstGeom prst="rect">
            <a:avLst/>
          </a:prstGeom>
        </p:spPr>
      </p:pic>
      <p:sp>
        <p:nvSpPr>
          <p:cNvPr id="4" name="Shape 1"/>
          <p:cNvSpPr/>
          <p:nvPr/>
        </p:nvSpPr>
        <p:spPr>
          <a:xfrm>
            <a:off x="640080" y="1463040"/>
            <a:ext cx="6035040" cy="4508022"/>
          </a:xfrm>
          <a:prstGeom prst="rect">
            <a:avLst/>
          </a:prstGeom>
          <a:ln w="25400">
            <a:solidFill>
              <a:srgbClr val="093B5F"/>
            </a:solidFill>
            <a:prstDash val="solid"/>
          </a:ln>
        </p:spPr>
      </p:sp>
      <p:sp>
        <p:nvSpPr>
          <p:cNvPr id="5" name="Text 2"/>
          <p:cNvSpPr txBox="1"/>
          <p:nvPr/>
        </p:nvSpPr>
        <p:spPr>
          <a:xfrm>
            <a:off x="640080" y="6062502"/>
            <a:ext cx="6035040" cy="274320"/>
          </a:xfrm>
          <a:prstGeom prst="rect">
            <a:avLst/>
          </a:prstGeom>
          <a:noFill/>
          <a:ln/>
        </p:spPr>
        <p:txBody>
          <a:bodyPr wrap="square" lIns="0" tIns="0" rIns="0" bIns="0" rtlCol="0" anchor="ctr"/>
          <a:lstStyle/>
          <a:p>
            <a:pPr indent="0" marL="0">
              <a:buNone/>
            </a:pPr>
            <a:r>
              <a:rPr lang="en-US" sz="950" i="1" dirty="0">
                <a:solidFill>
                  <a:srgbClr val="8A8A8A"/>
                </a:solidFill>
                <a:latin typeface="Calibri" pitchFamily="34" charset="0"/>
                <a:ea typeface="Calibri" pitchFamily="34" charset="-122"/>
                <a:cs typeface="Calibri" pitchFamily="34" charset="-120"/>
              </a:rPr>
              <a:t>"Try Me!" — Azure, VPN enewable</a:t>
            </a:r>
            <a:endParaRPr lang="en-US" sz="950" dirty="0"/>
          </a:p>
        </p:txBody>
      </p:sp>
      <p:sp>
        <p:nvSpPr>
          <p:cNvPr id="6" name="Shape 3"/>
          <p:cNvSpPr/>
          <p:nvPr/>
        </p:nvSpPr>
        <p:spPr>
          <a:xfrm>
            <a:off x="7040880" y="1463040"/>
            <a:ext cx="4572000" cy="2057400"/>
          </a:xfrm>
          <a:prstGeom prst="roundRect">
            <a:avLst>
              <a:gd name="adj" fmla="val 5333"/>
            </a:avLst>
          </a:prstGeom>
          <a:solidFill>
            <a:srgbClr val="FFFFFF"/>
          </a:solidFill>
          <a:ln w="19050">
            <a:solidFill>
              <a:srgbClr val="093B5F"/>
            </a:solidFill>
            <a:prstDash val="solid"/>
          </a:ln>
          <a:effectLst>
            <a:outerShdw sx="100000" sy="100000" kx="0" ky="0" algn="bl" rotWithShape="0" blurRad="76200" dist="25400" dir="5400000">
              <a:srgbClr val="1A1A1A">
                <a:alpha val="12000"/>
              </a:srgbClr>
            </a:outerShdw>
          </a:effectLst>
        </p:spPr>
      </p:sp>
      <p:sp>
        <p:nvSpPr>
          <p:cNvPr id="7" name="Shape 4"/>
          <p:cNvSpPr/>
          <p:nvPr/>
        </p:nvSpPr>
        <p:spPr>
          <a:xfrm>
            <a:off x="7296912" y="1719072"/>
            <a:ext cx="384048" cy="384048"/>
          </a:xfrm>
          <a:prstGeom prst="ellipse">
            <a:avLst/>
          </a:prstGeom>
          <a:solidFill>
            <a:srgbClr val="093B5F"/>
          </a:solidFill>
          <a:ln/>
        </p:spPr>
      </p:sp>
      <p:sp>
        <p:nvSpPr>
          <p:cNvPr id="8" name="Text 5"/>
          <p:cNvSpPr txBox="1"/>
          <p:nvPr/>
        </p:nvSpPr>
        <p:spPr>
          <a:xfrm>
            <a:off x="7818120" y="1664208"/>
            <a:ext cx="361188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Wat je ziet</a:t>
            </a:r>
            <a:endParaRPr lang="en-US" sz="1500" dirty="0"/>
          </a:p>
        </p:txBody>
      </p:sp>
      <p:sp>
        <p:nvSpPr>
          <p:cNvPr id="9" name="Text 6"/>
          <p:cNvSpPr txBox="1"/>
          <p:nvPr/>
        </p:nvSpPr>
        <p:spPr>
          <a:xfrm>
            <a:off x="7315200" y="2240280"/>
            <a:ext cx="4023360" cy="109728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Een bericht op topic enewable/eu/ops/grid/load/… komt binnen op de “Try Me!”-tab van Azure, met het veld "classification": "non-personal-eu" — precies de klasse die bij deze bestemming hoort.</a:t>
            </a:r>
            <a:endParaRPr lang="en-US" sz="1150" dirty="0"/>
          </a:p>
        </p:txBody>
      </p:sp>
      <p:sp>
        <p:nvSpPr>
          <p:cNvPr id="10" name="Shape 7"/>
          <p:cNvSpPr/>
          <p:nvPr/>
        </p:nvSpPr>
        <p:spPr>
          <a:xfrm>
            <a:off x="7040880" y="3703320"/>
            <a:ext cx="4572000" cy="2057400"/>
          </a:xfrm>
          <a:prstGeom prst="roundRect">
            <a:avLst>
              <a:gd name="adj" fmla="val 5333"/>
            </a:avLst>
          </a:prstGeom>
          <a:solidFill>
            <a:srgbClr val="FFFFFF"/>
          </a:solidFill>
          <a:ln w="19050">
            <a:solidFill>
              <a:srgbClr val="D6D6D6"/>
            </a:solidFill>
            <a:prstDash val="solid"/>
          </a:ln>
          <a:effectLst>
            <a:outerShdw sx="100000" sy="100000" kx="0" ky="0" algn="bl" rotWithShape="0" blurRad="76200" dist="25400" dir="5400000">
              <a:srgbClr val="1A1A1A">
                <a:alpha val="12000"/>
              </a:srgbClr>
            </a:outerShdw>
          </a:effectLst>
        </p:spPr>
      </p:sp>
      <p:sp>
        <p:nvSpPr>
          <p:cNvPr id="11" name="Shape 8"/>
          <p:cNvSpPr/>
          <p:nvPr/>
        </p:nvSpPr>
        <p:spPr>
          <a:xfrm>
            <a:off x="7296912" y="3959352"/>
            <a:ext cx="384048" cy="384048"/>
          </a:xfrm>
          <a:prstGeom prst="ellipse">
            <a:avLst/>
          </a:prstGeom>
          <a:solidFill>
            <a:srgbClr val="D6D6D6"/>
          </a:solidFill>
          <a:ln/>
        </p:spPr>
      </p:sp>
      <p:sp>
        <p:nvSpPr>
          <p:cNvPr id="12" name="Text 9"/>
          <p:cNvSpPr txBox="1"/>
          <p:nvPr/>
        </p:nvSpPr>
        <p:spPr>
          <a:xfrm>
            <a:off x="7818120" y="3904488"/>
            <a:ext cx="361188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Wat je NIET ziet</a:t>
            </a:r>
            <a:endParaRPr lang="en-US" sz="1500" dirty="0"/>
          </a:p>
        </p:txBody>
      </p:sp>
      <p:sp>
        <p:nvSpPr>
          <p:cNvPr id="13" name="Text 10"/>
          <p:cNvSpPr txBox="1"/>
          <p:nvPr/>
        </p:nvSpPr>
        <p:spPr>
          <a:xfrm>
            <a:off x="7315200" y="4480560"/>
            <a:ext cx="4023360" cy="109728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Dit bericht verschijnt op geen enkel moment op AWS of STACKIT — de ACL aan de bron en de queue/RDP-scope aan de grens sluiten dat architecturaal uit, niet toevallig.</a:t>
            </a:r>
            <a:endParaRPr lang="en-US" sz="1150" dirty="0"/>
          </a:p>
        </p:txBody>
      </p:sp>
      <p:sp>
        <p:nvSpPr>
          <p:cNvPr id="14" name="Text 11"/>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Testronde fase 5 — 02/10/2026, PLAN.md sectie 13 punt 48</a:t>
            </a:r>
            <a:endParaRPr lang="en-US" sz="900" dirty="0"/>
          </a:p>
        </p:txBody>
      </p:sp>
      <p:sp>
        <p:nvSpPr>
          <p:cNvPr id="15" name="Text 12"/>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DADD 2026</a:t>
            </a:r>
            <a:endParaRPr lang="en-US" sz="900" dirty="0"/>
          </a:p>
        </p:txBody>
      </p:sp>
      <p:sp>
        <p:nvSpPr>
          <p:cNvPr id="16" name="Text 0"/>
          <p:cNvSpPr/>
          <p:nvPr>
            <p:ph idx="101" type="body" hasCustomPrompt="1"/>
          </p:nvPr>
        </p:nvSpPr>
        <p:spPr>
          <a:xfrm>
            <a:off x="548640" y="1234440"/>
            <a:ext cx="11064240" cy="5120640"/>
          </a:xfrm>
          <a:prstGeom prst="rect">
            <a:avLst/>
          </a:prstGeom>
          <a:noFill/>
          <a:ln/>
        </p:spPr>
        <p:txBody>
          <a:bodyPr wrap="square" rtlCol="0" anchor="t"/>
          <a:lstStyle/>
          <a:p>
            <a:pPr algn="l"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t"/>
          <a:lstStyle/>
          <a:p>
            <a:pPr algn="l" indent="0" marL="0">
              <a:buNone/>
            </a:pPr>
            <a:r>
              <a:rPr lang="en-US" sz="2800" b="1" dirty="0">
                <a:solidFill>
                  <a:srgbClr val="093B5F"/>
                </a:solidFill>
                <a:latin typeface="Calibri" pitchFamily="34" charset="0"/>
                <a:ea typeface="Calibri" pitchFamily="34" charset="-122"/>
                <a:cs typeface="Calibri" pitchFamily="34" charset="-120"/>
              </a:rPr>
              <a:t>Live bewijs: alleen STACKIT ontvangt gevoelige pii</a:t>
            </a:r>
            <a:endParaRPr lang="en-US" sz="2800" dirty="0"/>
          </a:p>
        </p:txBody>
      </p:sp>
      <p:pic>
        <p:nvPicPr>
          <p:cNvPr id="3" name="Image 0" descr="/tmp/claude-0/-home-claude/53d1957b-c130-5537-9581-24f9dd54b40e/scratchpad/pptx-build/assets/stackit_evidence.png">    </p:cNvPr>
          <p:cNvPicPr>
            <a:picLocks noChangeAspect="1"/>
          </p:cNvPicPr>
          <p:nvPr/>
        </p:nvPicPr>
        <p:blipFill>
          <a:blip r:embed="rId1"/>
          <a:stretch>
            <a:fillRect/>
          </a:stretch>
        </p:blipFill>
        <p:spPr>
          <a:xfrm>
            <a:off x="640080" y="1463040"/>
            <a:ext cx="6035040" cy="4508022"/>
          </a:xfrm>
          <a:prstGeom prst="rect">
            <a:avLst/>
          </a:prstGeom>
        </p:spPr>
      </p:pic>
      <p:sp>
        <p:nvSpPr>
          <p:cNvPr id="4" name="Shape 1"/>
          <p:cNvSpPr/>
          <p:nvPr/>
        </p:nvSpPr>
        <p:spPr>
          <a:xfrm>
            <a:off x="640080" y="1463040"/>
            <a:ext cx="6035040" cy="4508022"/>
          </a:xfrm>
          <a:prstGeom prst="rect">
            <a:avLst/>
          </a:prstGeom>
          <a:ln w="25400">
            <a:solidFill>
              <a:srgbClr val="FCA829"/>
            </a:solidFill>
            <a:prstDash val="solid"/>
          </a:ln>
        </p:spPr>
      </p:sp>
      <p:sp>
        <p:nvSpPr>
          <p:cNvPr id="5" name="Text 2"/>
          <p:cNvSpPr txBox="1"/>
          <p:nvPr/>
        </p:nvSpPr>
        <p:spPr>
          <a:xfrm>
            <a:off x="640080" y="6062502"/>
            <a:ext cx="6035040" cy="274320"/>
          </a:xfrm>
          <a:prstGeom prst="rect">
            <a:avLst/>
          </a:prstGeom>
          <a:noFill/>
          <a:ln/>
        </p:spPr>
        <p:txBody>
          <a:bodyPr wrap="square" lIns="0" tIns="0" rIns="0" bIns="0" rtlCol="0" anchor="ctr"/>
          <a:lstStyle/>
          <a:p>
            <a:pPr indent="0" marL="0">
              <a:buNone/>
            </a:pPr>
            <a:r>
              <a:rPr lang="en-US" sz="950" i="1" dirty="0">
                <a:solidFill>
                  <a:srgbClr val="8A8A8A"/>
                </a:solidFill>
                <a:latin typeface="Calibri" pitchFamily="34" charset="0"/>
                <a:ea typeface="Calibri" pitchFamily="34" charset="-122"/>
                <a:cs typeface="Calibri" pitchFamily="34" charset="-120"/>
              </a:rPr>
              <a:t>"Try Me!" — STACKIT, VPN enewable</a:t>
            </a:r>
            <a:endParaRPr lang="en-US" sz="950" dirty="0"/>
          </a:p>
        </p:txBody>
      </p:sp>
      <p:sp>
        <p:nvSpPr>
          <p:cNvPr id="6" name="Shape 3"/>
          <p:cNvSpPr/>
          <p:nvPr/>
        </p:nvSpPr>
        <p:spPr>
          <a:xfrm>
            <a:off x="7040880" y="1463040"/>
            <a:ext cx="4572000" cy="2057400"/>
          </a:xfrm>
          <a:prstGeom prst="roundRect">
            <a:avLst>
              <a:gd name="adj" fmla="val 5333"/>
            </a:avLst>
          </a:prstGeom>
          <a:solidFill>
            <a:srgbClr val="FFFFFF"/>
          </a:solidFill>
          <a:ln w="19050">
            <a:solidFill>
              <a:srgbClr val="FCA829"/>
            </a:solidFill>
            <a:prstDash val="solid"/>
          </a:ln>
          <a:effectLst>
            <a:outerShdw sx="100000" sy="100000" kx="0" ky="0" algn="bl" rotWithShape="0" blurRad="76200" dist="25400" dir="5400000">
              <a:srgbClr val="1A1A1A">
                <a:alpha val="12000"/>
              </a:srgbClr>
            </a:outerShdw>
          </a:effectLst>
        </p:spPr>
      </p:sp>
      <p:sp>
        <p:nvSpPr>
          <p:cNvPr id="7" name="Shape 4"/>
          <p:cNvSpPr/>
          <p:nvPr/>
        </p:nvSpPr>
        <p:spPr>
          <a:xfrm>
            <a:off x="7296912" y="1719072"/>
            <a:ext cx="384048" cy="384048"/>
          </a:xfrm>
          <a:prstGeom prst="ellipse">
            <a:avLst/>
          </a:prstGeom>
          <a:solidFill>
            <a:srgbClr val="FCA829"/>
          </a:solidFill>
          <a:ln/>
        </p:spPr>
      </p:sp>
      <p:sp>
        <p:nvSpPr>
          <p:cNvPr id="8" name="Text 5"/>
          <p:cNvSpPr txBox="1"/>
          <p:nvPr/>
        </p:nvSpPr>
        <p:spPr>
          <a:xfrm>
            <a:off x="7818120" y="1664208"/>
            <a:ext cx="361188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Wat je ziet</a:t>
            </a:r>
            <a:endParaRPr lang="en-US" sz="1500" dirty="0"/>
          </a:p>
        </p:txBody>
      </p:sp>
      <p:sp>
        <p:nvSpPr>
          <p:cNvPr id="9" name="Text 6"/>
          <p:cNvSpPr txBox="1"/>
          <p:nvPr/>
        </p:nvSpPr>
        <p:spPr>
          <a:xfrm>
            <a:off x="7315200" y="2240280"/>
            <a:ext cx="4023360" cy="109728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Een bericht op topic enewable/eu/pii/meter/reading/… komt binnen op de “Try Me!”-tab van STACKIT, met het veld "classification": "PII" — precies de klasse die bij deze bestemming hoort.</a:t>
            </a:r>
            <a:endParaRPr lang="en-US" sz="1150" dirty="0"/>
          </a:p>
        </p:txBody>
      </p:sp>
      <p:sp>
        <p:nvSpPr>
          <p:cNvPr id="10" name="Shape 7"/>
          <p:cNvSpPr/>
          <p:nvPr/>
        </p:nvSpPr>
        <p:spPr>
          <a:xfrm>
            <a:off x="7040880" y="3703320"/>
            <a:ext cx="4572000" cy="2057400"/>
          </a:xfrm>
          <a:prstGeom prst="roundRect">
            <a:avLst>
              <a:gd name="adj" fmla="val 5333"/>
            </a:avLst>
          </a:prstGeom>
          <a:solidFill>
            <a:srgbClr val="FFFFFF"/>
          </a:solidFill>
          <a:ln w="19050">
            <a:solidFill>
              <a:srgbClr val="D6D6D6"/>
            </a:solidFill>
            <a:prstDash val="solid"/>
          </a:ln>
          <a:effectLst>
            <a:outerShdw sx="100000" sy="100000" kx="0" ky="0" algn="bl" rotWithShape="0" blurRad="76200" dist="25400" dir="5400000">
              <a:srgbClr val="1A1A1A">
                <a:alpha val="12000"/>
              </a:srgbClr>
            </a:outerShdw>
          </a:effectLst>
        </p:spPr>
      </p:sp>
      <p:sp>
        <p:nvSpPr>
          <p:cNvPr id="11" name="Shape 8"/>
          <p:cNvSpPr/>
          <p:nvPr/>
        </p:nvSpPr>
        <p:spPr>
          <a:xfrm>
            <a:off x="7296912" y="3959352"/>
            <a:ext cx="384048" cy="384048"/>
          </a:xfrm>
          <a:prstGeom prst="ellipse">
            <a:avLst/>
          </a:prstGeom>
          <a:solidFill>
            <a:srgbClr val="D6D6D6"/>
          </a:solidFill>
          <a:ln/>
        </p:spPr>
      </p:sp>
      <p:sp>
        <p:nvSpPr>
          <p:cNvPr id="12" name="Text 9"/>
          <p:cNvSpPr txBox="1"/>
          <p:nvPr/>
        </p:nvSpPr>
        <p:spPr>
          <a:xfrm>
            <a:off x="7818120" y="3904488"/>
            <a:ext cx="3611880" cy="502920"/>
          </a:xfrm>
          <a:prstGeom prst="rect">
            <a:avLst/>
          </a:prstGeom>
          <a:noFill/>
          <a:ln/>
        </p:spPr>
        <p:txBody>
          <a:bodyPr wrap="square" lIns="0" tIns="0" rIns="0" bIns="0" rtlCol="0" anchor="ctr"/>
          <a:lstStyle/>
          <a:p>
            <a:pPr algn="l" indent="0" marL="0">
              <a:buNone/>
            </a:pPr>
            <a:r>
              <a:rPr lang="en-US" sz="1500" b="1" dirty="0">
                <a:solidFill>
                  <a:srgbClr val="093B5F"/>
                </a:solidFill>
                <a:latin typeface="Calibri" pitchFamily="34" charset="0"/>
                <a:ea typeface="Calibri" pitchFamily="34" charset="-122"/>
                <a:cs typeface="Calibri" pitchFamily="34" charset="-120"/>
              </a:rPr>
              <a:t>Wat je NIET ziet</a:t>
            </a:r>
            <a:endParaRPr lang="en-US" sz="1500" dirty="0"/>
          </a:p>
        </p:txBody>
      </p:sp>
      <p:sp>
        <p:nvSpPr>
          <p:cNvPr id="13" name="Text 10"/>
          <p:cNvSpPr txBox="1"/>
          <p:nvPr/>
        </p:nvSpPr>
        <p:spPr>
          <a:xfrm>
            <a:off x="7315200" y="4480560"/>
            <a:ext cx="4023360" cy="1097280"/>
          </a:xfrm>
          <a:prstGeom prst="rect">
            <a:avLst/>
          </a:prstGeom>
          <a:noFill/>
          <a:ln/>
        </p:spPr>
        <p:txBody>
          <a:bodyPr wrap="square" lIns="0" tIns="0" rIns="0" bIns="0" rtlCol="0" anchor="t"/>
          <a:lstStyle/>
          <a:p>
            <a:pPr algn="l" indent="0" marL="0">
              <a:lnSpc>
                <a:spcPct val="115000"/>
              </a:lnSpc>
              <a:buNone/>
            </a:pPr>
            <a:r>
              <a:rPr lang="en-US" sz="1150" dirty="0">
                <a:solidFill>
                  <a:srgbClr val="3A3A3A"/>
                </a:solidFill>
                <a:latin typeface="Calibri" pitchFamily="34" charset="0"/>
                <a:ea typeface="Calibri" pitchFamily="34" charset="-122"/>
                <a:cs typeface="Calibri" pitchFamily="34" charset="-120"/>
              </a:rPr>
              <a:t>Dit bericht verschijnt op geen enkel moment op AWS of Azure — de ACL aan de bron en de queue/RDP-scope aan de grens sluiten dat architecturaal uit, niet toevallig.</a:t>
            </a:r>
            <a:endParaRPr lang="en-US" sz="1150" dirty="0"/>
          </a:p>
        </p:txBody>
      </p:sp>
      <p:sp>
        <p:nvSpPr>
          <p:cNvPr id="14" name="Text 11"/>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Testronde fase 5 — 02/10/2026, PLAN.md sectie 13 punt 48</a:t>
            </a:r>
            <a:endParaRPr lang="en-US" sz="900" dirty="0"/>
          </a:p>
        </p:txBody>
      </p:sp>
      <p:sp>
        <p:nvSpPr>
          <p:cNvPr id="15" name="Text 12"/>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DADD 2026</a:t>
            </a:r>
            <a:endParaRPr lang="en-US" sz="900" dirty="0"/>
          </a:p>
        </p:txBody>
      </p:sp>
      <p:sp>
        <p:nvSpPr>
          <p:cNvPr id="16" name="Text 0"/>
          <p:cNvSpPr/>
          <p:nvPr>
            <p:ph idx="101" type="body" hasCustomPrompt="1"/>
          </p:nvPr>
        </p:nvSpPr>
        <p:spPr>
          <a:xfrm>
            <a:off x="548640" y="1234440"/>
            <a:ext cx="11064240" cy="5120640"/>
          </a:xfrm>
          <a:prstGeom prst="rect">
            <a:avLst/>
          </a:prstGeom>
          <a:noFill/>
          <a:ln/>
        </p:spPr>
        <p:txBody>
          <a:bodyPr wrap="square" rtlCol="0" anchor="t"/>
          <a:lstStyle/>
          <a:p>
            <a:pPr algn="l" indent="0" marL="0">
              <a:buNone/>
            </a:pP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t"/>
          <a:lstStyle/>
          <a:p>
            <a:pPr algn="l" indent="0" marL="0">
              <a:buNone/>
            </a:pPr>
            <a:r>
              <a:rPr lang="en-US" sz="2800" b="1" dirty="0">
                <a:solidFill>
                  <a:srgbClr val="093B5F"/>
                </a:solidFill>
                <a:latin typeface="Calibri" pitchFamily="34" charset="0"/>
                <a:ea typeface="Calibri" pitchFamily="34" charset="-122"/>
                <a:cs typeface="Calibri" pitchFamily="34" charset="-120"/>
              </a:rPr>
              <a:t>Drie takken, één boom: de topic-taxonomie zichtbaar</a:t>
            </a:r>
            <a:endParaRPr lang="en-US" sz="2800" dirty="0"/>
          </a:p>
        </p:txBody>
      </p:sp>
      <p:pic>
        <p:nvPicPr>
          <p:cNvPr id="3" name="Image 0" descr="/tmp/claude-0/-home-claude/53d1957b-c130-5537-9581-24f9dd54b40e/scratchpad/pptx-build/assets/stackit_sunburst.png">    </p:cNvPr>
          <p:cNvPicPr>
            <a:picLocks noChangeAspect="1"/>
          </p:cNvPicPr>
          <p:nvPr/>
        </p:nvPicPr>
        <p:blipFill>
          <a:blip r:embed="rId1"/>
          <a:stretch>
            <a:fillRect/>
          </a:stretch>
        </p:blipFill>
        <p:spPr>
          <a:xfrm>
            <a:off x="4160520" y="1143000"/>
            <a:ext cx="4663440" cy="4302801"/>
          </a:xfrm>
          <a:prstGeom prst="rect">
            <a:avLst/>
          </a:prstGeom>
        </p:spPr>
      </p:pic>
      <p:sp>
        <p:nvSpPr>
          <p:cNvPr id="4" name="Shape 1"/>
          <p:cNvSpPr/>
          <p:nvPr/>
        </p:nvSpPr>
        <p:spPr>
          <a:xfrm>
            <a:off x="640080" y="1737360"/>
            <a:ext cx="347472" cy="347472"/>
          </a:xfrm>
          <a:prstGeom prst="ellipse">
            <a:avLst/>
          </a:prstGeom>
          <a:solidFill>
            <a:srgbClr val="00C895"/>
          </a:solidFill>
          <a:ln/>
        </p:spPr>
      </p:sp>
      <p:sp>
        <p:nvSpPr>
          <p:cNvPr id="5" name="Text 2"/>
          <p:cNvSpPr txBox="1"/>
          <p:nvPr/>
        </p:nvSpPr>
        <p:spPr>
          <a:xfrm>
            <a:off x="1143000" y="1664208"/>
            <a:ext cx="2834640" cy="365760"/>
          </a:xfrm>
          <a:prstGeom prst="rect">
            <a:avLst/>
          </a:prstGeom>
          <a:noFill/>
          <a:ln/>
        </p:spPr>
        <p:txBody>
          <a:bodyPr wrap="square" lIns="0" tIns="0" rIns="0" bIns="0" rtlCol="0" anchor="ctr"/>
          <a:lstStyle/>
          <a:p>
            <a:pPr indent="0" marL="0">
              <a:buNone/>
            </a:pPr>
            <a:r>
              <a:rPr lang="en-US" sz="1400" b="1" dirty="0">
                <a:solidFill>
                  <a:srgbClr val="093B5F"/>
                </a:solidFill>
                <a:latin typeface="Calibri" pitchFamily="34" charset="0"/>
                <a:ea typeface="Calibri" pitchFamily="34" charset="-122"/>
                <a:cs typeface="Calibri" pitchFamily="34" charset="-120"/>
              </a:rPr>
              <a:t>Publiek</a:t>
            </a:r>
            <a:endParaRPr lang="en-US" sz="1400" dirty="0"/>
          </a:p>
        </p:txBody>
      </p:sp>
      <p:sp>
        <p:nvSpPr>
          <p:cNvPr id="6" name="Text 3"/>
          <p:cNvSpPr txBox="1"/>
          <p:nvPr/>
        </p:nvSpPr>
        <p:spPr>
          <a:xfrm>
            <a:off x="1143000" y="2039112"/>
            <a:ext cx="2926080" cy="320040"/>
          </a:xfrm>
          <a:prstGeom prst="rect">
            <a:avLst/>
          </a:prstGeom>
          <a:noFill/>
          <a:ln/>
        </p:spPr>
        <p:txBody>
          <a:bodyPr wrap="square" lIns="0" tIns="0" rIns="0" bIns="0" rtlCol="0" anchor="ctr"/>
          <a:lstStyle/>
          <a:p>
            <a:pPr indent="0" marL="0">
              <a:buNone/>
            </a:pPr>
            <a:r>
              <a:rPr lang="en-US" sz="1050" dirty="0">
                <a:solidFill>
                  <a:srgbClr val="4A4A4A"/>
                </a:solidFill>
                <a:latin typeface="Space Mono" pitchFamily="34" charset="0"/>
                <a:ea typeface="Space Mono" pitchFamily="34" charset="-122"/>
                <a:cs typeface="Space Mono" pitchFamily="34" charset="-120"/>
              </a:rPr>
              <a:t>enewable/public/&gt;</a:t>
            </a:r>
            <a:endParaRPr lang="en-US" sz="1050" dirty="0"/>
          </a:p>
        </p:txBody>
      </p:sp>
      <p:sp>
        <p:nvSpPr>
          <p:cNvPr id="7" name="Text 4"/>
          <p:cNvSpPr txBox="1"/>
          <p:nvPr/>
        </p:nvSpPr>
        <p:spPr>
          <a:xfrm>
            <a:off x="1143000" y="2359152"/>
            <a:ext cx="2926080" cy="320040"/>
          </a:xfrm>
          <a:prstGeom prst="rect">
            <a:avLst/>
          </a:prstGeom>
          <a:noFill/>
          <a:ln/>
        </p:spPr>
        <p:txBody>
          <a:bodyPr wrap="square" lIns="0" tIns="0" rIns="0" bIns="0" rtlCol="0" anchor="ctr"/>
          <a:lstStyle/>
          <a:p>
            <a:pPr indent="0" marL="0">
              <a:buNone/>
            </a:pPr>
            <a:r>
              <a:rPr lang="en-US" sz="1000" i="1" dirty="0">
                <a:solidFill>
                  <a:srgbClr val="8A8A8A"/>
                </a:solidFill>
                <a:latin typeface="Calibri" pitchFamily="34" charset="0"/>
                <a:ea typeface="Calibri" pitchFamily="34" charset="-122"/>
                <a:cs typeface="Calibri" pitchFamily="34" charset="-120"/>
              </a:rPr>
              <a:t>markten × prijstypes</a:t>
            </a:r>
            <a:endParaRPr lang="en-US" sz="1000" dirty="0"/>
          </a:p>
        </p:txBody>
      </p:sp>
      <p:sp>
        <p:nvSpPr>
          <p:cNvPr id="8" name="Shape 5"/>
          <p:cNvSpPr/>
          <p:nvPr/>
        </p:nvSpPr>
        <p:spPr>
          <a:xfrm>
            <a:off x="640080" y="3108960"/>
            <a:ext cx="347472" cy="347472"/>
          </a:xfrm>
          <a:prstGeom prst="ellipse">
            <a:avLst/>
          </a:prstGeom>
          <a:solidFill>
            <a:srgbClr val="093B5F"/>
          </a:solidFill>
          <a:ln/>
        </p:spPr>
      </p:sp>
      <p:sp>
        <p:nvSpPr>
          <p:cNvPr id="9" name="Text 6"/>
          <p:cNvSpPr txBox="1"/>
          <p:nvPr/>
        </p:nvSpPr>
        <p:spPr>
          <a:xfrm>
            <a:off x="1143000" y="3035808"/>
            <a:ext cx="2834640" cy="365760"/>
          </a:xfrm>
          <a:prstGeom prst="rect">
            <a:avLst/>
          </a:prstGeom>
          <a:noFill/>
          <a:ln/>
        </p:spPr>
        <p:txBody>
          <a:bodyPr wrap="square" lIns="0" tIns="0" rIns="0" bIns="0" rtlCol="0" anchor="ctr"/>
          <a:lstStyle/>
          <a:p>
            <a:pPr indent="0" marL="0">
              <a:buNone/>
            </a:pPr>
            <a:r>
              <a:rPr lang="en-US" sz="1400" b="1" dirty="0">
                <a:solidFill>
                  <a:srgbClr val="093B5F"/>
                </a:solidFill>
                <a:latin typeface="Calibri" pitchFamily="34" charset="0"/>
                <a:ea typeface="Calibri" pitchFamily="34" charset="-122"/>
                <a:cs typeface="Calibri" pitchFamily="34" charset="-120"/>
              </a:rPr>
              <a:t>Niet-persoonlijk EU</a:t>
            </a:r>
            <a:endParaRPr lang="en-US" sz="1400" dirty="0"/>
          </a:p>
        </p:txBody>
      </p:sp>
      <p:sp>
        <p:nvSpPr>
          <p:cNvPr id="10" name="Text 7"/>
          <p:cNvSpPr txBox="1"/>
          <p:nvPr/>
        </p:nvSpPr>
        <p:spPr>
          <a:xfrm>
            <a:off x="1143000" y="3410712"/>
            <a:ext cx="2926080" cy="320040"/>
          </a:xfrm>
          <a:prstGeom prst="rect">
            <a:avLst/>
          </a:prstGeom>
          <a:noFill/>
          <a:ln/>
        </p:spPr>
        <p:txBody>
          <a:bodyPr wrap="square" lIns="0" tIns="0" rIns="0" bIns="0" rtlCol="0" anchor="ctr"/>
          <a:lstStyle/>
          <a:p>
            <a:pPr indent="0" marL="0">
              <a:buNone/>
            </a:pPr>
            <a:r>
              <a:rPr lang="en-US" sz="1050" dirty="0">
                <a:solidFill>
                  <a:srgbClr val="4A4A4A"/>
                </a:solidFill>
                <a:latin typeface="Space Mono" pitchFamily="34" charset="0"/>
                <a:ea typeface="Space Mono" pitchFamily="34" charset="-122"/>
                <a:cs typeface="Space Mono" pitchFamily="34" charset="-120"/>
              </a:rPr>
              <a:t>enewable/eu/ops/&gt;</a:t>
            </a:r>
            <a:endParaRPr lang="en-US" sz="1050" dirty="0"/>
          </a:p>
        </p:txBody>
      </p:sp>
      <p:sp>
        <p:nvSpPr>
          <p:cNvPr id="11" name="Text 8"/>
          <p:cNvSpPr txBox="1"/>
          <p:nvPr/>
        </p:nvSpPr>
        <p:spPr>
          <a:xfrm>
            <a:off x="1143000" y="3730752"/>
            <a:ext cx="2926080" cy="320040"/>
          </a:xfrm>
          <a:prstGeom prst="rect">
            <a:avLst/>
          </a:prstGeom>
          <a:noFill/>
          <a:ln/>
        </p:spPr>
        <p:txBody>
          <a:bodyPr wrap="square" lIns="0" tIns="0" rIns="0" bIns="0" rtlCol="0" anchor="ctr"/>
          <a:lstStyle/>
          <a:p>
            <a:pPr indent="0" marL="0">
              <a:buNone/>
            </a:pPr>
            <a:r>
              <a:rPr lang="en-US" sz="1000" i="1" dirty="0">
                <a:solidFill>
                  <a:srgbClr val="8A8A8A"/>
                </a:solidFill>
                <a:latin typeface="Calibri" pitchFamily="34" charset="0"/>
                <a:ea typeface="Calibri" pitchFamily="34" charset="-122"/>
                <a:cs typeface="Calibri" pitchFamily="34" charset="-120"/>
              </a:rPr>
              <a:t>10 postcodegebieden</a:t>
            </a:r>
            <a:endParaRPr lang="en-US" sz="1000" dirty="0"/>
          </a:p>
        </p:txBody>
      </p:sp>
      <p:sp>
        <p:nvSpPr>
          <p:cNvPr id="12" name="Shape 9"/>
          <p:cNvSpPr/>
          <p:nvPr/>
        </p:nvSpPr>
        <p:spPr>
          <a:xfrm>
            <a:off x="640080" y="4480560"/>
            <a:ext cx="347472" cy="347472"/>
          </a:xfrm>
          <a:prstGeom prst="ellipse">
            <a:avLst/>
          </a:prstGeom>
          <a:solidFill>
            <a:srgbClr val="FCA829"/>
          </a:solidFill>
          <a:ln/>
        </p:spPr>
      </p:sp>
      <p:sp>
        <p:nvSpPr>
          <p:cNvPr id="13" name="Text 10"/>
          <p:cNvSpPr txBox="1"/>
          <p:nvPr/>
        </p:nvSpPr>
        <p:spPr>
          <a:xfrm>
            <a:off x="1143000" y="4407408"/>
            <a:ext cx="2834640" cy="365760"/>
          </a:xfrm>
          <a:prstGeom prst="rect">
            <a:avLst/>
          </a:prstGeom>
          <a:noFill/>
          <a:ln/>
        </p:spPr>
        <p:txBody>
          <a:bodyPr wrap="square" lIns="0" tIns="0" rIns="0" bIns="0" rtlCol="0" anchor="ctr"/>
          <a:lstStyle/>
          <a:p>
            <a:pPr indent="0" marL="0">
              <a:buNone/>
            </a:pPr>
            <a:r>
              <a:rPr lang="en-US" sz="1400" b="1" dirty="0">
                <a:solidFill>
                  <a:srgbClr val="093B5F"/>
                </a:solidFill>
                <a:latin typeface="Calibri" pitchFamily="34" charset="0"/>
                <a:ea typeface="Calibri" pitchFamily="34" charset="-122"/>
                <a:cs typeface="Calibri" pitchFamily="34" charset="-120"/>
              </a:rPr>
              <a:t>Gevoelige PII</a:t>
            </a:r>
            <a:endParaRPr lang="en-US" sz="1400" dirty="0"/>
          </a:p>
        </p:txBody>
      </p:sp>
      <p:sp>
        <p:nvSpPr>
          <p:cNvPr id="14" name="Text 11"/>
          <p:cNvSpPr txBox="1"/>
          <p:nvPr/>
        </p:nvSpPr>
        <p:spPr>
          <a:xfrm>
            <a:off x="1143000" y="4782312"/>
            <a:ext cx="2926080" cy="320040"/>
          </a:xfrm>
          <a:prstGeom prst="rect">
            <a:avLst/>
          </a:prstGeom>
          <a:noFill/>
          <a:ln/>
        </p:spPr>
        <p:txBody>
          <a:bodyPr wrap="square" lIns="0" tIns="0" rIns="0" bIns="0" rtlCol="0" anchor="ctr"/>
          <a:lstStyle/>
          <a:p>
            <a:pPr indent="0" marL="0">
              <a:buNone/>
            </a:pPr>
            <a:r>
              <a:rPr lang="en-US" sz="1050" dirty="0">
                <a:solidFill>
                  <a:srgbClr val="4A4A4A"/>
                </a:solidFill>
                <a:latin typeface="Space Mono" pitchFamily="34" charset="0"/>
                <a:ea typeface="Space Mono" pitchFamily="34" charset="-122"/>
                <a:cs typeface="Space Mono" pitchFamily="34" charset="-120"/>
              </a:rPr>
              <a:t>enewable/eu/pii/&gt;</a:t>
            </a:r>
            <a:endParaRPr lang="en-US" sz="1050" dirty="0"/>
          </a:p>
        </p:txBody>
      </p:sp>
      <p:sp>
        <p:nvSpPr>
          <p:cNvPr id="15" name="Text 12"/>
          <p:cNvSpPr txBox="1"/>
          <p:nvPr/>
        </p:nvSpPr>
        <p:spPr>
          <a:xfrm>
            <a:off x="1143000" y="5102352"/>
            <a:ext cx="2926080" cy="320040"/>
          </a:xfrm>
          <a:prstGeom prst="rect">
            <a:avLst/>
          </a:prstGeom>
          <a:noFill/>
          <a:ln/>
        </p:spPr>
        <p:txBody>
          <a:bodyPr wrap="square" lIns="0" tIns="0" rIns="0" bIns="0" rtlCol="0" anchor="ctr"/>
          <a:lstStyle/>
          <a:p>
            <a:pPr indent="0" marL="0">
              <a:buNone/>
            </a:pPr>
            <a:r>
              <a:rPr lang="en-US" sz="1000" i="1" dirty="0">
                <a:solidFill>
                  <a:srgbClr val="8A8A8A"/>
                </a:solidFill>
                <a:latin typeface="Calibri" pitchFamily="34" charset="0"/>
                <a:ea typeface="Calibri" pitchFamily="34" charset="-122"/>
                <a:cs typeface="Calibri" pitchFamily="34" charset="-120"/>
              </a:rPr>
              <a:t>20 fictieve klant-ID's</a:t>
            </a:r>
            <a:endParaRPr lang="en-US" sz="1000" dirty="0"/>
          </a:p>
        </p:txBody>
      </p:sp>
      <p:sp>
        <p:nvSpPr>
          <p:cNvPr id="16" name="Text 13"/>
          <p:cNvSpPr txBox="1"/>
          <p:nvPr/>
        </p:nvSpPr>
        <p:spPr>
          <a:xfrm>
            <a:off x="640080" y="5989320"/>
            <a:ext cx="10972800" cy="548640"/>
          </a:xfrm>
          <a:prstGeom prst="rect">
            <a:avLst/>
          </a:prstGeom>
          <a:noFill/>
          <a:ln/>
        </p:spPr>
        <p:txBody>
          <a:bodyPr wrap="square" lIns="0" tIns="0" rIns="0" bIns="0" rtlCol="0" anchor="ctr"/>
          <a:lstStyle/>
          <a:p>
            <a:pPr indent="0" marL="0">
              <a:buNone/>
            </a:pPr>
            <a:r>
              <a:rPr lang="en-US" sz="1100" i="1" dirty="0">
                <a:solidFill>
                  <a:srgbClr val="6A6A6A"/>
                </a:solidFill>
                <a:latin typeface="Calibri" pitchFamily="34" charset="0"/>
                <a:ea typeface="Calibri" pitchFamily="34" charset="-122"/>
                <a:cs typeface="Calibri" pitchFamily="34" charset="-120"/>
              </a:rPr>
              <a:t>Sunburst Topic Explorer, live op de lokale broker — elke dataklasse krijgt zichtbaar zijn eigen tak, en de boom groeit per verstuurd bericht.</a:t>
            </a:r>
            <a:endParaRPr lang="en-US" sz="1100" dirty="0"/>
          </a:p>
        </p:txBody>
      </p:sp>
      <p:sp>
        <p:nvSpPr>
          <p:cNvPr id="17" name="Text 14"/>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explorer.solace.dev</a:t>
            </a:r>
            <a:endParaRPr lang="en-US" sz="900" dirty="0"/>
          </a:p>
        </p:txBody>
      </p:sp>
      <p:sp>
        <p:nvSpPr>
          <p:cNvPr id="18" name="Text 15"/>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DADD 2026</a:t>
            </a:r>
            <a:endParaRPr lang="en-US" sz="900" dirty="0"/>
          </a:p>
        </p:txBody>
      </p:sp>
      <p:sp>
        <p:nvSpPr>
          <p:cNvPr id="19" name="Text 0"/>
          <p:cNvSpPr/>
          <p:nvPr>
            <p:ph idx="101" type="body" hasCustomPrompt="1"/>
          </p:nvPr>
        </p:nvSpPr>
        <p:spPr>
          <a:xfrm>
            <a:off x="548640" y="1234440"/>
            <a:ext cx="11064240" cy="5120640"/>
          </a:xfrm>
          <a:prstGeom prst="rect">
            <a:avLst/>
          </a:prstGeom>
          <a:noFill/>
          <a:ln/>
        </p:spPr>
        <p:txBody>
          <a:bodyPr wrap="square" rtlCol="0" anchor="t"/>
          <a:lstStyle/>
          <a:p>
            <a:pPr algn="l" indent="0" marL="0">
              <a:buNone/>
            </a:pP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t"/>
          <a:lstStyle/>
          <a:p>
            <a:pPr algn="l" indent="0" marL="0">
              <a:buNone/>
            </a:pPr>
            <a:r>
              <a:rPr lang="en-US" sz="2800" b="1" dirty="0">
                <a:solidFill>
                  <a:srgbClr val="093B5F"/>
                </a:solidFill>
                <a:latin typeface="Calibri" pitchFamily="34" charset="0"/>
                <a:ea typeface="Calibri" pitchFamily="34" charset="-122"/>
                <a:cs typeface="Calibri" pitchFamily="34" charset="-120"/>
              </a:rPr>
              <a:t>Robuustheid: herhaald en idempotent getest</a:t>
            </a:r>
            <a:endParaRPr lang="en-US" sz="2800" dirty="0"/>
          </a:p>
        </p:txBody>
      </p:sp>
      <p:sp>
        <p:nvSpPr>
          <p:cNvPr id="3" name="Text 1"/>
          <p:cNvSpPr txBox="1"/>
          <p:nvPr/>
        </p:nvSpPr>
        <p:spPr>
          <a:xfrm>
            <a:off x="548640" y="1371600"/>
            <a:ext cx="6675120" cy="4206240"/>
          </a:xfrm>
          <a:prstGeom prst="rect">
            <a:avLst/>
          </a:prstGeom>
          <a:noFill/>
          <a:ln/>
        </p:spPr>
        <p:txBody>
          <a:bodyPr wrap="square" lIns="0" tIns="0" rIns="0" bIns="0" rtlCol="0" anchor="t"/>
          <a:lstStyle/>
          <a:p>
            <a:pPr algn="l" marL="342900" indent="-342900">
              <a:lnSpc>
                <a:spcPct val="115000"/>
              </a:lnSpc>
              <a:spcAft>
                <a:spcPts val="1600"/>
              </a:spcAft>
              <a:buSzPct val="100000"/>
              <a:buChar char="●"/>
            </a:pPr>
            <a:r>
              <a:rPr lang="en-US" sz="1350" dirty="0">
                <a:solidFill>
                  <a:srgbClr val="093B5F"/>
                </a:solidFill>
                <a:latin typeface="Calibri" pitchFamily="34" charset="0"/>
                <a:ea typeface="Calibri" pitchFamily="34" charset="-122"/>
                <a:cs typeface="Calibri" pitchFamily="34" charset="-120"/>
              </a:rPr>
              <a:t>Volledige testronde (3 tools × 3 dataklassen) herhaald na elke infrastructuurwijziging — niet eenmalig aangetoond en daarna aangenomen.</a:t>
            </a:r>
            <a:endParaRPr lang="en-US" sz="1350" dirty="0"/>
          </a:p>
          <a:p>
            <a:pPr algn="l" marL="342900" indent="-342900">
              <a:lnSpc>
                <a:spcPct val="115000"/>
              </a:lnSpc>
              <a:spcAft>
                <a:spcPts val="1600"/>
              </a:spcAft>
              <a:buSzPct val="100000"/>
              <a:buChar char="●"/>
            </a:pPr>
            <a:r>
              <a:rPr lang="en-US" sz="1350" dirty="0">
                <a:solidFill>
                  <a:srgbClr val="093B5F"/>
                </a:solidFill>
                <a:latin typeface="Calibri" pitchFamily="34" charset="0"/>
                <a:ea typeface="Calibri" pitchFamily="34" charset="-122"/>
                <a:cs typeface="Calibri" pitchFamily="34" charset="-120"/>
              </a:rPr>
              <a:t>Lokale broker regulier herstart; configuratiescripts daarna opnieuw gedraaid — foutloos, geen duplicaten, geen handmatige opschoning.</a:t>
            </a:r>
            <a:endParaRPr lang="en-US" sz="1350" dirty="0"/>
          </a:p>
          <a:p>
            <a:pPr algn="l" marL="342900" indent="-342900">
              <a:lnSpc>
                <a:spcPct val="115000"/>
              </a:lnSpc>
              <a:spcAft>
                <a:spcPts val="1600"/>
              </a:spcAft>
              <a:buSzPct val="100000"/>
              <a:buChar char="●"/>
            </a:pPr>
            <a:r>
              <a:rPr lang="en-US" sz="1350" dirty="0">
                <a:solidFill>
                  <a:srgbClr val="093B5F"/>
                </a:solidFill>
                <a:latin typeface="Calibri" pitchFamily="34" charset="0"/>
                <a:ea typeface="Calibri" pitchFamily="34" charset="-122"/>
                <a:cs typeface="Calibri" pitchFamily="34" charset="-120"/>
              </a:rPr>
              <a:t>Onderweg gevonden en gefixt: een REST-eindpunt dat na een service-vervanging nooit werd bijgewerkt, en een platform-specifieke tijdelijke-bestand-bug — allebei vóór de live demo, niet erop.</a:t>
            </a:r>
            <a:endParaRPr lang="en-US" sz="1350" dirty="0"/>
          </a:p>
        </p:txBody>
      </p:sp>
      <p:sp>
        <p:nvSpPr>
          <p:cNvPr id="4" name="Shape 2"/>
          <p:cNvSpPr/>
          <p:nvPr/>
        </p:nvSpPr>
        <p:spPr>
          <a:xfrm>
            <a:off x="7589520" y="1417320"/>
            <a:ext cx="3931920" cy="4023360"/>
          </a:xfrm>
          <a:prstGeom prst="roundRect">
            <a:avLst>
              <a:gd name="adj" fmla="val 2791"/>
            </a:avLst>
          </a:prstGeom>
          <a:solidFill>
            <a:srgbClr val="093B5F"/>
          </a:solidFill>
          <a:ln/>
        </p:spPr>
      </p:sp>
      <p:sp>
        <p:nvSpPr>
          <p:cNvPr id="5" name="Text 3"/>
          <p:cNvSpPr txBox="1"/>
          <p:nvPr/>
        </p:nvSpPr>
        <p:spPr>
          <a:xfrm>
            <a:off x="7955280" y="1828800"/>
            <a:ext cx="3200400" cy="1005840"/>
          </a:xfrm>
          <a:prstGeom prst="rect">
            <a:avLst/>
          </a:prstGeom>
          <a:noFill/>
          <a:ln/>
        </p:spPr>
        <p:txBody>
          <a:bodyPr wrap="square" lIns="0" tIns="0" rIns="0" bIns="0" rtlCol="0" anchor="b"/>
          <a:lstStyle/>
          <a:p>
            <a:pPr algn="l" indent="0" marL="0">
              <a:buNone/>
            </a:pPr>
            <a:r>
              <a:rPr lang="en-US" sz="5400" b="1" dirty="0">
                <a:solidFill>
                  <a:srgbClr val="ABFF88"/>
                </a:solidFill>
                <a:latin typeface="Calibri" pitchFamily="34" charset="0"/>
                <a:ea typeface="Calibri" pitchFamily="34" charset="-122"/>
                <a:cs typeface="Calibri" pitchFamily="34" charset="-120"/>
              </a:rPr>
              <a:t>0</a:t>
            </a:r>
            <a:endParaRPr lang="en-US" sz="5400" dirty="0"/>
          </a:p>
        </p:txBody>
      </p:sp>
      <p:sp>
        <p:nvSpPr>
          <p:cNvPr id="6" name="Text 4"/>
          <p:cNvSpPr txBox="1"/>
          <p:nvPr/>
        </p:nvSpPr>
        <p:spPr>
          <a:xfrm>
            <a:off x="7955280" y="2788920"/>
            <a:ext cx="3200400" cy="822960"/>
          </a:xfrm>
          <a:prstGeom prst="rect">
            <a:avLst/>
          </a:prstGeom>
          <a:noFill/>
          <a:ln/>
        </p:spPr>
        <p:txBody>
          <a:bodyPr wrap="square" lIns="0" tIns="0" rIns="0" bIns="0" rtlCol="0" anchor="t"/>
          <a:lstStyle/>
          <a:p>
            <a:pPr algn="l" indent="0" marL="0">
              <a:lnSpc>
                <a:spcPct val="120000"/>
              </a:lnSpc>
              <a:buNone/>
            </a:pPr>
            <a:r>
              <a:rPr lang="en-US" sz="1400" dirty="0">
                <a:solidFill>
                  <a:srgbClr val="FFFFFF"/>
                </a:solidFill>
                <a:latin typeface="Calibri" pitchFamily="34" charset="0"/>
                <a:ea typeface="Calibri" pitchFamily="34" charset="-122"/>
                <a:cs typeface="Calibri" pitchFamily="34" charset="-120"/>
              </a:rPr>
              <a:t>berichten die hun eigen</a:t>
            </a:r>
            <a:endParaRPr lang="en-US" sz="1400" dirty="0"/>
          </a:p>
          <a:p>
            <a:pPr algn="l" indent="0" marL="0">
              <a:lnSpc>
                <a:spcPct val="120000"/>
              </a:lnSpc>
              <a:buNone/>
            </a:pPr>
            <a:r>
              <a:rPr lang="en-US" sz="1400" dirty="0">
                <a:solidFill>
                  <a:srgbClr val="FFFFFF"/>
                </a:solidFill>
                <a:latin typeface="Calibri" pitchFamily="34" charset="0"/>
                <a:ea typeface="Calibri" pitchFamily="34" charset="-122"/>
                <a:cs typeface="Calibri" pitchFamily="34" charset="-120"/>
              </a:rPr>
              <a:t>topic-subtree verlieten</a:t>
            </a:r>
            <a:endParaRPr lang="en-US" sz="1400" dirty="0"/>
          </a:p>
        </p:txBody>
      </p:sp>
      <p:sp>
        <p:nvSpPr>
          <p:cNvPr id="7" name="Text 5"/>
          <p:cNvSpPr txBox="1"/>
          <p:nvPr/>
        </p:nvSpPr>
        <p:spPr>
          <a:xfrm>
            <a:off x="7955280" y="3200400"/>
            <a:ext cx="3200400" cy="1005840"/>
          </a:xfrm>
          <a:prstGeom prst="rect">
            <a:avLst/>
          </a:prstGeom>
          <a:noFill/>
          <a:ln/>
        </p:spPr>
        <p:txBody>
          <a:bodyPr wrap="square" lIns="0" tIns="0" rIns="0" bIns="0" rtlCol="0" anchor="b"/>
          <a:lstStyle/>
          <a:p>
            <a:pPr algn="l" indent="0" marL="0">
              <a:buNone/>
            </a:pPr>
            <a:r>
              <a:rPr lang="en-US" sz="5400" b="1" dirty="0">
                <a:solidFill>
                  <a:srgbClr val="00C895"/>
                </a:solidFill>
                <a:latin typeface="Calibri" pitchFamily="34" charset="0"/>
                <a:ea typeface="Calibri" pitchFamily="34" charset="-122"/>
                <a:cs typeface="Calibri" pitchFamily="34" charset="-120"/>
              </a:rPr>
              <a:t>3×3</a:t>
            </a:r>
            <a:endParaRPr lang="en-US" sz="5400" dirty="0"/>
          </a:p>
        </p:txBody>
      </p:sp>
      <p:sp>
        <p:nvSpPr>
          <p:cNvPr id="8" name="Text 6"/>
          <p:cNvSpPr txBox="1"/>
          <p:nvPr/>
        </p:nvSpPr>
        <p:spPr>
          <a:xfrm>
            <a:off x="7955280" y="4160520"/>
            <a:ext cx="3200400" cy="822960"/>
          </a:xfrm>
          <a:prstGeom prst="rect">
            <a:avLst/>
          </a:prstGeom>
          <a:noFill/>
          <a:ln/>
        </p:spPr>
        <p:txBody>
          <a:bodyPr wrap="square" lIns="0" tIns="0" rIns="0" bIns="0" rtlCol="0" anchor="t"/>
          <a:lstStyle/>
          <a:p>
            <a:pPr algn="l" indent="0" marL="0">
              <a:lnSpc>
                <a:spcPct val="120000"/>
              </a:lnSpc>
              <a:buNone/>
            </a:pPr>
            <a:r>
              <a:rPr lang="en-US" sz="1400" dirty="0">
                <a:solidFill>
                  <a:srgbClr val="FFFFFF"/>
                </a:solidFill>
                <a:latin typeface="Calibri" pitchFamily="34" charset="0"/>
                <a:ea typeface="Calibri" pitchFamily="34" charset="-122"/>
                <a:cs typeface="Calibri" pitchFamily="34" charset="-120"/>
              </a:rPr>
              <a:t>tools × dataklassen, elk</a:t>
            </a:r>
            <a:endParaRPr lang="en-US" sz="1400" dirty="0"/>
          </a:p>
          <a:p>
            <a:pPr algn="l" indent="0" marL="0">
              <a:lnSpc>
                <a:spcPct val="120000"/>
              </a:lnSpc>
              <a:buNone/>
            </a:pPr>
            <a:r>
              <a:rPr lang="en-US" sz="1400" dirty="0">
                <a:solidFill>
                  <a:srgbClr val="FFFFFF"/>
                </a:solidFill>
                <a:latin typeface="Calibri" pitchFamily="34" charset="0"/>
                <a:ea typeface="Calibri" pitchFamily="34" charset="-122"/>
                <a:cs typeface="Calibri" pitchFamily="34" charset="-120"/>
              </a:rPr>
              <a:t>exclusief op eigen broker</a:t>
            </a:r>
            <a:endParaRPr lang="en-US" sz="1400" dirty="0"/>
          </a:p>
        </p:txBody>
      </p:sp>
      <p:sp>
        <p:nvSpPr>
          <p:cNvPr id="9" name="Text 7"/>
          <p:cNvSpPr txBox="1"/>
          <p:nvPr/>
        </p:nvSpPr>
        <p:spPr>
          <a:xfrm>
            <a:off x="7955280" y="4937760"/>
            <a:ext cx="3200400" cy="457200"/>
          </a:xfrm>
          <a:prstGeom prst="rect">
            <a:avLst/>
          </a:prstGeom>
          <a:noFill/>
          <a:ln/>
        </p:spPr>
        <p:txBody>
          <a:bodyPr wrap="square" lIns="0" tIns="0" rIns="0" bIns="0" rtlCol="0" anchor="ctr"/>
          <a:lstStyle/>
          <a:p>
            <a:pPr indent="0" marL="0">
              <a:buNone/>
            </a:pPr>
            <a:r>
              <a:rPr lang="en-US" sz="1000" i="1" dirty="0">
                <a:solidFill>
                  <a:srgbClr val="C2F7FF"/>
                </a:solidFill>
                <a:latin typeface="Calibri" pitchFamily="34" charset="0"/>
                <a:ea typeface="Calibri" pitchFamily="34" charset="-122"/>
                <a:cs typeface="Calibri" pitchFamily="34" charset="-120"/>
              </a:rPr>
              <a:t>(fase 5, sectie 12 punten 1–4 en 6 — 02/10/2026)</a:t>
            </a:r>
            <a:endParaRPr lang="en-US" sz="1000" dirty="0"/>
          </a:p>
        </p:txBody>
      </p:sp>
      <p:sp>
        <p:nvSpPr>
          <p:cNvPr id="10" name="Text 8"/>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PLAN.md sectie 13, punt 48</a:t>
            </a:r>
            <a:endParaRPr lang="en-US" sz="900" dirty="0"/>
          </a:p>
        </p:txBody>
      </p:sp>
      <p:sp>
        <p:nvSpPr>
          <p:cNvPr id="11" name="Text 9"/>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DADD 2026</a:t>
            </a:r>
            <a:endParaRPr lang="en-US" sz="900" dirty="0"/>
          </a:p>
        </p:txBody>
      </p:sp>
      <p:sp>
        <p:nvSpPr>
          <p:cNvPr id="12" name="Text 0"/>
          <p:cNvSpPr/>
          <p:nvPr>
            <p:ph idx="101" type="body" hasCustomPrompt="1"/>
          </p:nvPr>
        </p:nvSpPr>
        <p:spPr>
          <a:xfrm>
            <a:off x="548640" y="1234440"/>
            <a:ext cx="11064240" cy="5120640"/>
          </a:xfrm>
          <a:prstGeom prst="rect">
            <a:avLst/>
          </a:prstGeom>
          <a:noFill/>
          <a:ln/>
        </p:spPr>
        <p:txBody>
          <a:bodyPr wrap="square" rtlCol="0" anchor="t"/>
          <a:lstStyle/>
          <a:p>
            <a:pPr algn="l" indent="0" marL="0">
              <a:buNone/>
            </a:pP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t"/>
          <a:lstStyle/>
          <a:p>
            <a:pPr algn="l" indent="0" marL="0">
              <a:buNone/>
            </a:pPr>
            <a:r>
              <a:rPr lang="en-US" sz="2800" b="1" dirty="0">
                <a:solidFill>
                  <a:srgbClr val="093B5F"/>
                </a:solidFill>
                <a:latin typeface="Calibri" pitchFamily="34" charset="0"/>
                <a:ea typeface="Calibri" pitchFamily="34" charset="-122"/>
                <a:cs typeface="Calibri" pitchFamily="34" charset="-120"/>
              </a:rPr>
              <a:t>Draaiboek op het podium</a:t>
            </a:r>
            <a:endParaRPr lang="en-US" sz="2800" dirty="0"/>
          </a:p>
        </p:txBody>
      </p:sp>
      <p:sp>
        <p:nvSpPr>
          <p:cNvPr id="3" name="Shape 1"/>
          <p:cNvSpPr/>
          <p:nvPr/>
        </p:nvSpPr>
        <p:spPr>
          <a:xfrm>
            <a:off x="640080" y="1490472"/>
            <a:ext cx="457200" cy="457200"/>
          </a:xfrm>
          <a:prstGeom prst="ellipse">
            <a:avLst/>
          </a:prstGeom>
          <a:solidFill>
            <a:srgbClr val="00C895"/>
          </a:solidFill>
          <a:ln/>
        </p:spPr>
      </p:sp>
      <p:sp>
        <p:nvSpPr>
          <p:cNvPr id="4" name="Text 2"/>
          <p:cNvSpPr txBox="1"/>
          <p:nvPr/>
        </p:nvSpPr>
        <p:spPr>
          <a:xfrm>
            <a:off x="640080" y="14904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325880" y="1417320"/>
            <a:ext cx="9875520" cy="365760"/>
          </a:xfrm>
          <a:prstGeom prst="rect">
            <a:avLst/>
          </a:prstGeom>
          <a:noFill/>
          <a:ln/>
        </p:spPr>
        <p:txBody>
          <a:bodyPr wrap="square" lIns="0" tIns="0" rIns="0" bIns="0" rtlCol="0" anchor="ctr"/>
          <a:lstStyle/>
          <a:p>
            <a:pPr indent="0" marL="0">
              <a:buNone/>
            </a:pPr>
            <a:r>
              <a:rPr lang="en-US" sz="1500" b="1" dirty="0">
                <a:solidFill>
                  <a:srgbClr val="093B5F"/>
                </a:solidFill>
                <a:latin typeface="Calibri" pitchFamily="34" charset="0"/>
                <a:ea typeface="Calibri" pitchFamily="34" charset="-122"/>
                <a:cs typeface="Calibri" pitchFamily="34" charset="-120"/>
              </a:rPr>
              <a:t>Eén tool, drie bestemmingen</a:t>
            </a:r>
            <a:endParaRPr lang="en-US" sz="1500" dirty="0"/>
          </a:p>
        </p:txBody>
      </p:sp>
      <p:sp>
        <p:nvSpPr>
          <p:cNvPr id="6" name="Text 4"/>
          <p:cNvSpPr txBox="1"/>
          <p:nvPr/>
        </p:nvSpPr>
        <p:spPr>
          <a:xfrm>
            <a:off x="1325880" y="1783080"/>
            <a:ext cx="9875520" cy="320040"/>
          </a:xfrm>
          <a:prstGeom prst="rect">
            <a:avLst/>
          </a:prstGeom>
          <a:noFill/>
          <a:ln/>
        </p:spPr>
        <p:txBody>
          <a:bodyPr wrap="square" lIns="0" tIns="0" rIns="0" bIns="0" rtlCol="0" anchor="ctr"/>
          <a:lstStyle/>
          <a:p>
            <a:pPr indent="0" marL="0">
              <a:buNone/>
            </a:pPr>
            <a:r>
              <a:rPr lang="en-US" sz="1150" dirty="0">
                <a:solidFill>
                  <a:srgbClr val="5A5A5A"/>
                </a:solidFill>
                <a:latin typeface="Calibri" pitchFamily="34" charset="0"/>
                <a:ea typeface="Calibri" pitchFamily="34" charset="-122"/>
                <a:cs typeface="Calibri" pitchFamily="34" charset="-120"/>
              </a:rPr>
              <a:t>één commando publiceert alle 3 klassen; de 3 “Try Me!”-tabs staan naast elkaar open</a:t>
            </a:r>
            <a:endParaRPr lang="en-US" sz="1150" dirty="0"/>
          </a:p>
        </p:txBody>
      </p:sp>
      <p:sp>
        <p:nvSpPr>
          <p:cNvPr id="7" name="Shape 5"/>
          <p:cNvSpPr/>
          <p:nvPr/>
        </p:nvSpPr>
        <p:spPr>
          <a:xfrm>
            <a:off x="640080" y="2496312"/>
            <a:ext cx="457200" cy="457200"/>
          </a:xfrm>
          <a:prstGeom prst="ellipse">
            <a:avLst/>
          </a:prstGeom>
          <a:solidFill>
            <a:srgbClr val="00C895"/>
          </a:solidFill>
          <a:ln/>
        </p:spPr>
      </p:sp>
      <p:sp>
        <p:nvSpPr>
          <p:cNvPr id="8" name="Text 6"/>
          <p:cNvSpPr txBox="1"/>
          <p:nvPr/>
        </p:nvSpPr>
        <p:spPr>
          <a:xfrm>
            <a:off x="640080" y="24963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325880" y="2423160"/>
            <a:ext cx="9875520" cy="365760"/>
          </a:xfrm>
          <a:prstGeom prst="rect">
            <a:avLst/>
          </a:prstGeom>
          <a:noFill/>
          <a:ln/>
        </p:spPr>
        <p:txBody>
          <a:bodyPr wrap="square" lIns="0" tIns="0" rIns="0" bIns="0" rtlCol="0" anchor="ctr"/>
          <a:lstStyle/>
          <a:p>
            <a:pPr indent="0" marL="0">
              <a:buNone/>
            </a:pPr>
            <a:r>
              <a:rPr lang="en-US" sz="1500" b="1" dirty="0">
                <a:solidFill>
                  <a:srgbClr val="093B5F"/>
                </a:solidFill>
                <a:latin typeface="Calibri" pitchFamily="34" charset="0"/>
                <a:ea typeface="Calibri" pitchFamily="34" charset="-122"/>
                <a:cs typeface="Calibri" pitchFamily="34" charset="-120"/>
              </a:rPr>
              <a:t>Publiek → alleen AWS</a:t>
            </a:r>
            <a:endParaRPr lang="en-US" sz="1500" dirty="0"/>
          </a:p>
        </p:txBody>
      </p:sp>
      <p:sp>
        <p:nvSpPr>
          <p:cNvPr id="10" name="Text 8"/>
          <p:cNvSpPr txBox="1"/>
          <p:nvPr/>
        </p:nvSpPr>
        <p:spPr>
          <a:xfrm>
            <a:off x="1325880" y="2788920"/>
            <a:ext cx="9875520" cy="320040"/>
          </a:xfrm>
          <a:prstGeom prst="rect">
            <a:avLst/>
          </a:prstGeom>
          <a:noFill/>
          <a:ln/>
        </p:spPr>
        <p:txBody>
          <a:bodyPr wrap="square" lIns="0" tIns="0" rIns="0" bIns="0" rtlCol="0" anchor="ctr"/>
          <a:lstStyle/>
          <a:p>
            <a:pPr indent="0" marL="0">
              <a:buNone/>
            </a:pPr>
            <a:r>
              <a:rPr lang="en-US" sz="1150" dirty="0">
                <a:solidFill>
                  <a:srgbClr val="5A5A5A"/>
                </a:solidFill>
                <a:latin typeface="Calibri" pitchFamily="34" charset="0"/>
                <a:ea typeface="Calibri" pitchFamily="34" charset="-122"/>
                <a:cs typeface="Calibri" pitchFamily="34" charset="-120"/>
              </a:rPr>
              <a:t>onschuldige data mag gewoon naar de hyperscaler</a:t>
            </a:r>
            <a:endParaRPr lang="en-US" sz="1150" dirty="0"/>
          </a:p>
        </p:txBody>
      </p:sp>
      <p:sp>
        <p:nvSpPr>
          <p:cNvPr id="11" name="Shape 9"/>
          <p:cNvSpPr/>
          <p:nvPr/>
        </p:nvSpPr>
        <p:spPr>
          <a:xfrm>
            <a:off x="640080" y="3502152"/>
            <a:ext cx="457200" cy="457200"/>
          </a:xfrm>
          <a:prstGeom prst="ellipse">
            <a:avLst/>
          </a:prstGeom>
          <a:solidFill>
            <a:srgbClr val="093B5F"/>
          </a:solidFill>
          <a:ln/>
        </p:spPr>
      </p:sp>
      <p:sp>
        <p:nvSpPr>
          <p:cNvPr id="12" name="Text 10"/>
          <p:cNvSpPr txBox="1"/>
          <p:nvPr/>
        </p:nvSpPr>
        <p:spPr>
          <a:xfrm>
            <a:off x="640080" y="35021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325880" y="3429000"/>
            <a:ext cx="9875520" cy="365760"/>
          </a:xfrm>
          <a:prstGeom prst="rect">
            <a:avLst/>
          </a:prstGeom>
          <a:noFill/>
          <a:ln/>
        </p:spPr>
        <p:txBody>
          <a:bodyPr wrap="square" lIns="0" tIns="0" rIns="0" bIns="0" rtlCol="0" anchor="ctr"/>
          <a:lstStyle/>
          <a:p>
            <a:pPr indent="0" marL="0">
              <a:buNone/>
            </a:pPr>
            <a:r>
              <a:rPr lang="en-US" sz="1500" b="1" dirty="0">
                <a:solidFill>
                  <a:srgbClr val="093B5F"/>
                </a:solidFill>
                <a:latin typeface="Calibri" pitchFamily="34" charset="0"/>
                <a:ea typeface="Calibri" pitchFamily="34" charset="-122"/>
                <a:cs typeface="Calibri" pitchFamily="34" charset="-120"/>
              </a:rPr>
              <a:t>Niet-persoonlijk EU → alleen Azure</a:t>
            </a:r>
            <a:endParaRPr lang="en-US" sz="1500" dirty="0"/>
          </a:p>
        </p:txBody>
      </p:sp>
      <p:sp>
        <p:nvSpPr>
          <p:cNvPr id="14" name="Text 12"/>
          <p:cNvSpPr txBox="1"/>
          <p:nvPr/>
        </p:nvSpPr>
        <p:spPr>
          <a:xfrm>
            <a:off x="1325880" y="3794760"/>
            <a:ext cx="9875520" cy="320040"/>
          </a:xfrm>
          <a:prstGeom prst="rect">
            <a:avLst/>
          </a:prstGeom>
          <a:noFill/>
          <a:ln/>
        </p:spPr>
        <p:txBody>
          <a:bodyPr wrap="square" lIns="0" tIns="0" rIns="0" bIns="0" rtlCol="0" anchor="ctr"/>
          <a:lstStyle/>
          <a:p>
            <a:pPr indent="0" marL="0">
              <a:buNone/>
            </a:pPr>
            <a:r>
              <a:rPr lang="en-US" sz="1150" dirty="0">
                <a:solidFill>
                  <a:srgbClr val="5A5A5A"/>
                </a:solidFill>
                <a:latin typeface="Calibri" pitchFamily="34" charset="0"/>
                <a:ea typeface="Calibri" pitchFamily="34" charset="-122"/>
                <a:cs typeface="Calibri" pitchFamily="34" charset="-120"/>
              </a:rPr>
              <a:t>EU-gebonden, niet gevoelig genoeg voor de zwaarste route</a:t>
            </a:r>
            <a:endParaRPr lang="en-US" sz="1150" dirty="0"/>
          </a:p>
        </p:txBody>
      </p:sp>
      <p:sp>
        <p:nvSpPr>
          <p:cNvPr id="15" name="Shape 13"/>
          <p:cNvSpPr/>
          <p:nvPr/>
        </p:nvSpPr>
        <p:spPr>
          <a:xfrm>
            <a:off x="640080" y="4507992"/>
            <a:ext cx="457200" cy="457200"/>
          </a:xfrm>
          <a:prstGeom prst="ellipse">
            <a:avLst/>
          </a:prstGeom>
          <a:solidFill>
            <a:srgbClr val="FCA829"/>
          </a:solidFill>
          <a:ln/>
        </p:spPr>
      </p:sp>
      <p:sp>
        <p:nvSpPr>
          <p:cNvPr id="16" name="Text 14"/>
          <p:cNvSpPr txBox="1"/>
          <p:nvPr/>
        </p:nvSpPr>
        <p:spPr>
          <a:xfrm>
            <a:off x="640080" y="45079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325880" y="4434840"/>
            <a:ext cx="9875520" cy="365760"/>
          </a:xfrm>
          <a:prstGeom prst="rect">
            <a:avLst/>
          </a:prstGeom>
          <a:noFill/>
          <a:ln/>
        </p:spPr>
        <p:txBody>
          <a:bodyPr wrap="square" lIns="0" tIns="0" rIns="0" bIns="0" rtlCol="0" anchor="ctr"/>
          <a:lstStyle/>
          <a:p>
            <a:pPr indent="0" marL="0">
              <a:buNone/>
            </a:pPr>
            <a:r>
              <a:rPr lang="en-US" sz="1500" b="1" dirty="0">
                <a:solidFill>
                  <a:srgbClr val="093B5F"/>
                </a:solidFill>
                <a:latin typeface="Calibri" pitchFamily="34" charset="0"/>
                <a:ea typeface="Calibri" pitchFamily="34" charset="-122"/>
                <a:cs typeface="Calibri" pitchFamily="34" charset="-120"/>
              </a:rPr>
              <a:t>Gevoelige PII → alleen STACKIT</a:t>
            </a:r>
            <a:endParaRPr lang="en-US" sz="1500" dirty="0"/>
          </a:p>
        </p:txBody>
      </p:sp>
      <p:sp>
        <p:nvSpPr>
          <p:cNvPr id="18" name="Text 16"/>
          <p:cNvSpPr txBox="1"/>
          <p:nvPr/>
        </p:nvSpPr>
        <p:spPr>
          <a:xfrm>
            <a:off x="1325880" y="4800600"/>
            <a:ext cx="9875520" cy="320040"/>
          </a:xfrm>
          <a:prstGeom prst="rect">
            <a:avLst/>
          </a:prstGeom>
          <a:noFill/>
          <a:ln/>
        </p:spPr>
        <p:txBody>
          <a:bodyPr wrap="square" lIns="0" tIns="0" rIns="0" bIns="0" rtlCol="0" anchor="ctr"/>
          <a:lstStyle/>
          <a:p>
            <a:pPr indent="0" marL="0">
              <a:buNone/>
            </a:pPr>
            <a:r>
              <a:rPr lang="en-US" sz="1150" dirty="0">
                <a:solidFill>
                  <a:srgbClr val="5A5A5A"/>
                </a:solidFill>
                <a:latin typeface="Calibri" pitchFamily="34" charset="0"/>
                <a:ea typeface="Calibri" pitchFamily="34" charset="-122"/>
                <a:cs typeface="Calibri" pitchFamily="34" charset="-120"/>
              </a:rPr>
              <a:t>het “aha”-moment — expliciet niet op AWS of Azure</a:t>
            </a:r>
            <a:endParaRPr lang="en-US" sz="1150" dirty="0"/>
          </a:p>
        </p:txBody>
      </p:sp>
      <p:sp>
        <p:nvSpPr>
          <p:cNvPr id="19" name="Shape 17"/>
          <p:cNvSpPr/>
          <p:nvPr/>
        </p:nvSpPr>
        <p:spPr>
          <a:xfrm>
            <a:off x="548640" y="5486400"/>
            <a:ext cx="11064240" cy="868680"/>
          </a:xfrm>
          <a:prstGeom prst="roundRect">
            <a:avLst>
              <a:gd name="adj" fmla="val 10526"/>
            </a:avLst>
          </a:prstGeom>
          <a:solidFill>
            <a:srgbClr val="F4F4F4"/>
          </a:solidFill>
          <a:ln/>
        </p:spPr>
      </p:sp>
      <p:sp>
        <p:nvSpPr>
          <p:cNvPr id="20" name="Text 18"/>
          <p:cNvSpPr txBox="1"/>
          <p:nvPr/>
        </p:nvSpPr>
        <p:spPr>
          <a:xfrm>
            <a:off x="822960" y="5486400"/>
            <a:ext cx="10515600" cy="868680"/>
          </a:xfrm>
          <a:prstGeom prst="rect">
            <a:avLst/>
          </a:prstGeom>
          <a:noFill/>
          <a:ln/>
        </p:spPr>
        <p:txBody>
          <a:bodyPr wrap="square" lIns="0" tIns="0" rIns="0" bIns="0" rtlCol="0" anchor="ctr"/>
          <a:lstStyle/>
          <a:p>
            <a:pPr indent="0" marL="0">
              <a:buNone/>
            </a:pPr>
            <a:r>
              <a:rPr lang="en-US" sz="1150" dirty="0">
                <a:solidFill>
                  <a:srgbClr val="093B5F"/>
                </a:solidFill>
                <a:latin typeface="Calibri" pitchFamily="34" charset="0"/>
                <a:ea typeface="Calibri" pitchFamily="34" charset="-122"/>
                <a:cs typeface="Calibri" pitchFamily="34" charset="-120"/>
              </a:rPr>
              <a:t>Timing: ±60–90 seconden voor de kernboodschap. Optioneel: herhaal met een andere tool, of laat Sunburst Topic Explorer live meegroeien. Neem vooraf een schermopname op als fallback.</a:t>
            </a:r>
            <a:endParaRPr lang="en-US" sz="1150" dirty="0"/>
          </a:p>
        </p:txBody>
      </p:sp>
      <p:sp>
        <p:nvSpPr>
          <p:cNvPr id="21" name="Text 19"/>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docs/demo-apps.md</a:t>
            </a:r>
            <a:endParaRPr lang="en-US" sz="900" dirty="0"/>
          </a:p>
        </p:txBody>
      </p:sp>
      <p:sp>
        <p:nvSpPr>
          <p:cNvPr id="22" name="Text 20"/>
          <p:cNvSpPr txBox="1"/>
          <p:nvPr/>
        </p:nvSpPr>
        <p:spPr>
          <a:xfrm>
            <a:off x="9811512" y="6473952"/>
            <a:ext cx="182880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DADD 2026</a:t>
            </a:r>
            <a:endParaRPr lang="en-US" sz="900" dirty="0"/>
          </a:p>
        </p:txBody>
      </p:sp>
      <p:sp>
        <p:nvSpPr>
          <p:cNvPr id="23" name="Text 0"/>
          <p:cNvSpPr/>
          <p:nvPr>
            <p:ph idx="101" type="body" hasCustomPrompt="1"/>
          </p:nvPr>
        </p:nvSpPr>
        <p:spPr>
          <a:xfrm>
            <a:off x="548640" y="1234440"/>
            <a:ext cx="11064240" cy="5120640"/>
          </a:xfrm>
          <a:prstGeom prst="rect">
            <a:avLst/>
          </a:prstGeom>
          <a:noFill/>
          <a:ln/>
        </p:spPr>
        <p:txBody>
          <a:bodyPr wrap="square" rtlCol="0" anchor="t"/>
          <a:lstStyle/>
          <a:p>
            <a:pPr algn="l" indent="0" marL="0">
              <a:buNone/>
            </a:pP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title" hasCustomPrompt="1"/>
          </p:nvPr>
        </p:nvSpPr>
        <p:spPr>
          <a:xfrm>
            <a:off x="822960" y="2331720"/>
            <a:ext cx="9875520" cy="1737360"/>
          </a:xfrm>
          <a:prstGeom prst="rect">
            <a:avLst/>
          </a:prstGeom>
          <a:noFill/>
          <a:ln/>
        </p:spPr>
        <p:txBody>
          <a:bodyPr wrap="square" rtlCol="0" anchor="t"/>
          <a:lstStyle/>
          <a:p>
            <a:pPr algn="l" indent="0" marL="0">
              <a:buNone/>
            </a:pPr>
            <a:r>
              <a:rPr lang="en-US" sz="4200" b="1" dirty="0">
                <a:solidFill>
                  <a:srgbClr val="FFFFFF"/>
                </a:solidFill>
                <a:latin typeface="Calibri" pitchFamily="34" charset="0"/>
                <a:ea typeface="Calibri" pitchFamily="34" charset="-122"/>
                <a:cs typeface="Calibri" pitchFamily="34" charset="-120"/>
              </a:rPr>
              <a:t>Vragen?</a:t>
            </a:r>
            <a:endParaRPr lang="en-US" sz="4200" dirty="0"/>
          </a:p>
        </p:txBody>
      </p:sp>
      <p:sp>
        <p:nvSpPr>
          <p:cNvPr id="3" name="Text 1"/>
          <p:cNvSpPr/>
          <p:nvPr>
            <p:ph idx="104" type="body" hasCustomPrompt="1"/>
          </p:nvPr>
        </p:nvSpPr>
        <p:spPr>
          <a:xfrm>
            <a:off x="822960" y="3977640"/>
            <a:ext cx="9326880" cy="1188720"/>
          </a:xfrm>
          <a:prstGeom prst="rect">
            <a:avLst/>
          </a:prstGeom>
          <a:noFill/>
          <a:ln/>
        </p:spPr>
        <p:txBody>
          <a:bodyPr wrap="square" rtlCol="0" anchor="t"/>
          <a:lstStyle/>
          <a:p>
            <a:pPr algn="l" indent="0" marL="0">
              <a:buNone/>
            </a:pPr>
            <a:r>
              <a:rPr lang="en-US" sz="1800" dirty="0">
                <a:solidFill>
                  <a:srgbClr val="C2F7FF"/>
                </a:solidFill>
                <a:latin typeface="Calibri" pitchFamily="34" charset="0"/>
                <a:ea typeface="Calibri" pitchFamily="34" charset="-122"/>
                <a:cs typeface="Calibri" pitchFamily="34" charset="-120"/>
              </a:rPr>
              <a:t>Soevereiniteit is een classificatievraagstuk — niet een landkaart.</a:t>
            </a:r>
            <a:endParaRPr lang="en-US" sz="1800" dirty="0"/>
          </a:p>
        </p:txBody>
      </p:sp>
      <p:sp>
        <p:nvSpPr>
          <p:cNvPr id="4" name="Text 2"/>
          <p:cNvSpPr txBox="1"/>
          <p:nvPr/>
        </p:nvSpPr>
        <p:spPr>
          <a:xfrm>
            <a:off x="822960" y="4846320"/>
            <a:ext cx="9144000" cy="365760"/>
          </a:xfrm>
          <a:prstGeom prst="rect">
            <a:avLst/>
          </a:prstGeom>
          <a:noFill/>
          <a:ln/>
        </p:spPr>
        <p:txBody>
          <a:bodyPr wrap="square" lIns="0" tIns="0" rIns="0" bIns="0" rtlCol="0" anchor="ctr"/>
          <a:lstStyle/>
          <a:p>
            <a:pPr indent="0" marL="0">
              <a:buNone/>
            </a:pPr>
            <a:r>
              <a:rPr lang="en-US" sz="1300" dirty="0">
                <a:solidFill>
                  <a:srgbClr val="00C895"/>
                </a:solidFill>
                <a:latin typeface="Space Mono" pitchFamily="34" charset="0"/>
                <a:ea typeface="Space Mono" pitchFamily="34" charset="-122"/>
                <a:cs typeface="Space Mono" pitchFamily="34" charset="-120"/>
              </a:rPr>
              <a:t>github.com/taatuut/dadd-2026-solace-stackit-soevereine-cloud</a:t>
            </a:r>
            <a:endParaRPr lang="en-US" sz="1300" dirty="0"/>
          </a:p>
        </p:txBody>
      </p:sp>
      <p:sp>
        <p:nvSpPr>
          <p:cNvPr id="5" name="Text 3"/>
          <p:cNvSpPr txBox="1"/>
          <p:nvPr/>
        </p:nvSpPr>
        <p:spPr>
          <a:xfrm>
            <a:off x="822960" y="6035040"/>
            <a:ext cx="7315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Emil Zegers  ·  Solace</a:t>
            </a:r>
            <a:endParaRPr lang="en-US" sz="1300" dirty="0"/>
          </a:p>
        </p:txBody>
      </p:sp>
      <p:sp>
        <p:nvSpPr>
          <p:cNvPr id="6" name="Text 4"/>
          <p:cNvSpPr txBox="1"/>
          <p:nvPr/>
        </p:nvSpPr>
        <p:spPr>
          <a:xfrm>
            <a:off x="822960" y="457200"/>
            <a:ext cx="1828800" cy="365760"/>
          </a:xfrm>
          <a:prstGeom prst="rect">
            <a:avLst/>
          </a:prstGeom>
          <a:noFill/>
          <a:ln/>
        </p:spPr>
        <p:txBody>
          <a:bodyPr wrap="square" lIns="0" tIns="0" rIns="0" bIns="0" rtlCol="0" anchor="ctr"/>
          <a:lstStyle/>
          <a:p>
            <a:pPr algn="l" indent="0" marL="0">
              <a:buNone/>
            </a:pPr>
            <a:r>
              <a:rPr lang="en-US" sz="2000" b="1" dirty="0">
                <a:solidFill>
                  <a:srgbClr val="00C895"/>
                </a:solidFill>
                <a:latin typeface="Calibri" pitchFamily="34" charset="0"/>
                <a:ea typeface="Calibri" pitchFamily="34" charset="-122"/>
                <a:cs typeface="Calibri" pitchFamily="34" charset="-120"/>
              </a:rPr>
              <a:t>solace.</a:t>
            </a:r>
            <a:endParaRPr lang="en-US" sz="2000" dirty="0"/>
          </a:p>
        </p:txBody>
      </p:sp>
    </p:spTree>
  </p:cSld>
  <p:clrMapOvr>
    <a:masterClrMapping/>
  </p:clrMapOvr>
</p:sld>
</file>

<file path=ppt/theme/theme1.xml><?xml version="1.0" encoding="utf-8"?>
<a:theme xmlns:a="http://schemas.openxmlformats.org/drawingml/2006/main" name="Solace2025">
  <a:themeElements>
    <a:clrScheme name="Solace2025">
      <a:dk1>
        <a:srgbClr val="093B5F"/>
      </a:dk1>
      <a:lt1>
        <a:srgbClr val="FFFFFF"/>
      </a:lt1>
      <a:dk2>
        <a:srgbClr val="03213B"/>
      </a:dk2>
      <a:lt2>
        <a:srgbClr val="F4F4F4"/>
      </a:lt2>
      <a:accent1>
        <a:srgbClr val="00C895"/>
      </a:accent1>
      <a:accent2>
        <a:srgbClr val="093B5F"/>
      </a:accent2>
      <a:accent3>
        <a:srgbClr val="FCA829"/>
      </a:accent3>
      <a:accent4>
        <a:srgbClr val="ABFF88"/>
      </a:accent4>
      <a:accent5>
        <a:srgbClr val="C2F7FF"/>
      </a:accent5>
      <a:accent6>
        <a:srgbClr val="FFF7C2"/>
      </a:accent6>
      <a:hlink>
        <a:srgbClr val="00C895"/>
      </a:hlink>
      <a:folHlink>
        <a:srgbClr val="009193"/>
      </a:folHlink>
    </a:clrScheme>
    <a:fontScheme name="Solace2025">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Solace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2026-10-02T08:29:47Z</dcterms:created>
  <dcterms:modified xsi:type="dcterms:W3CDTF">2026-10-02T08:29:47Z</dcterms:modified>
</cp:coreProperties>
</file>